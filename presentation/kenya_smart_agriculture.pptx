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263238"/>
                </a:solidFill>
                <a:latin typeface="Arial"/>
              </a:defRPr>
            </a:pPr>
            <a:r>
              <a:rPr sz="1100" b="0" i="0" u="none" strike="noStrike">
                <a:solidFill>
                  <a:srgbClr val="263238"/>
                </a:solidFill>
                <a:latin typeface="Arial"/>
              </a:rPr>
              <a:t>Kenya Overall CPI — Historical + Forecast (Feb 2020–Jan 2026)</a:t>
            </a:r>
          </a:p>
        </c:rich>
      </c:tx>
      <c:layout/>
      <c:overlay val="0"/>
    </c:title>
    <c:autoTitleDeleted val="0"/>
    <c:plotArea>
      <c:layout/>
      <c:lineChart>
        <c:varyColors val="0"/>
        <c:ser>
          <c:idx val="0"/>
          <c:order val="0"/>
          <c:tx>
            <c:strRef>
              <c:f>Sheet1!$B$1</c:f>
              <c:strCache>
                <c:ptCount val="1"/>
                <c:pt idx="0">
                  <c:v>Kenya CPI</c:v>
                </c:pt>
              </c:strCache>
            </c:strRef>
          </c:tx>
          <c:spPr>
            <a:solidFill>
              <a:srgbClr val="1565C0"/>
            </a:solidFill>
            <a:ln w="31750" cap="flat">
              <a:solidFill>
                <a:srgbClr val="1565C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565C0"/>
              </a:solidFill>
              <a:ln w="9525" cap="flat">
                <a:solidFill>
                  <a:srgbClr val="1565C0"/>
                </a:solidFill>
                <a:prstDash val="solid"/>
                <a:round/>
              </a:ln>
              <a:effectLst/>
            </c:spPr>
          </c:marker>
          <c:cat>
            <c:multiLvlStrRef>
              <c:f>Sheet1!$A$2:$A$14</c:f>
              <c:multiLvlStrCache>
                <c:ptCount val="13"/>
                <c:lvl>
                  <c:pt idx="0">
                    <c:v>Feb
2020</c:v>
                  </c:pt>
                  <c:pt idx="1">
                    <c:v>Jun
2020</c:v>
                  </c:pt>
                  <c:pt idx="2">
                    <c:v>Dec
2020</c:v>
                  </c:pt>
                  <c:pt idx="3">
                    <c:v>Jun
2021</c:v>
                  </c:pt>
                  <c:pt idx="4">
                    <c:v>Dec
2021</c:v>
                  </c:pt>
                  <c:pt idx="5">
                    <c:v>Jun
2022</c:v>
                  </c:pt>
                  <c:pt idx="6">
                    <c:v>Dec
2022</c:v>
                  </c:pt>
                  <c:pt idx="7">
                    <c:v>Jun
2023</c:v>
                  </c:pt>
                  <c:pt idx="8">
                    <c:v>Dec
2023</c:v>
                  </c:pt>
                  <c:pt idx="9">
                    <c:v>Jun
2024</c:v>
                  </c:pt>
                  <c:pt idx="10">
                    <c:v>Dec
2024</c:v>
                  </c:pt>
                  <c:pt idx="11">
                    <c:v>May
2025</c:v>
                  </c:pt>
                  <c:pt idx="12">
                    <c:v>Jan
2026</c:v>
                  </c:pt>
                </c:lvl>
              </c:multiLvlStrCache>
            </c:multiLvlStrRef>
          </c:cat>
          <c:val>
            <c:numRef>
              <c:f>Sheet1!$B$2:$B$14</c:f>
              <c:numCache>
                <c:formatCode>General</c:formatCode>
                <c:ptCount val="13"/>
                <c:pt idx="0">
                  <c:v>107.2</c:v>
                </c:pt>
                <c:pt idx="1">
                  <c:v>108.3</c:v>
                </c:pt>
                <c:pt idx="2">
                  <c:v>109.6</c:v>
                </c:pt>
                <c:pt idx="3">
                  <c:v>113.8</c:v>
                </c:pt>
                <c:pt idx="4">
                  <c:v>117.1</c:v>
                </c:pt>
                <c:pt idx="5">
                  <c:v>120.2</c:v>
                </c:pt>
                <c:pt idx="6">
                  <c:v>125.5</c:v>
                </c:pt>
                <c:pt idx="7">
                  <c:v>129.6</c:v>
                </c:pt>
                <c:pt idx="8">
                  <c:v>133.2</c:v>
                </c:pt>
                <c:pt idx="9">
                  <c:v>138.5</c:v>
                </c:pt>
                <c:pt idx="10">
                  <c:v>142.7</c:v>
                </c:pt>
                <c:pt idx="11">
                  <c:v>144.9</c:v>
                </c:pt>
                <c:pt idx="12">
                  <c:v>147.7</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46E7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46E7A"/>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263238"/>
                </a:solidFill>
                <a:latin typeface="Arial"/>
              </a:defRPr>
            </a:pPr>
            <a:r>
              <a:rPr sz="1100" b="0" i="0" u="none" strike="noStrike">
                <a:solidFill>
                  <a:srgbClr val="263238"/>
                </a:solidFill>
                <a:latin typeface="Arial"/>
              </a:rPr>
              <a:t>Articles per Topic</a:t>
            </a:r>
          </a:p>
        </c:rich>
      </c:tx>
      <c:layout/>
      <c:overlay val="0"/>
    </c:title>
    <c:autoTitleDeleted val="0"/>
    <c:plotArea>
      <c:layout/>
      <c:barChart>
        <c:barDir val="bar"/>
        <c:grouping val="clustered"/>
        <c:varyColors val="0"/>
        <c:ser>
          <c:idx val="0"/>
          <c:order val="0"/>
          <c:tx>
            <c:strRef>
              <c:f>Sheet1!$B$1</c:f>
              <c:strCache>
                <c:ptCount val="1"/>
                <c:pt idx="0">
                  <c:v>Articles</c:v>
                </c:pt>
              </c:strCache>
            </c:strRef>
          </c:tx>
          <c:spPr>
            <a:solidFill>
              <a:srgbClr val="2E7D32"/>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cat>
            <c:multiLvlStrRef>
              <c:f>Sheet1!$A$2:$A$7</c:f>
              <c:multiLvlStrCache>
                <c:ptCount val="6"/>
                <c:lvl>
                  <c:pt idx="0">
                    <c:v>General
Farming</c:v>
                  </c:pt>
                  <c:pt idx="1">
                    <c:v>Government
Programmes</c:v>
                  </c:pt>
                  <c:pt idx="2">
                    <c:v>Livestock
&amp; Disease</c:v>
                  </c:pt>
                  <c:pt idx="3">
                    <c:v>Cash Crops</c:v>
                  </c:pt>
                  <c:pt idx="4">
                    <c:v>Soil &amp; Yield</c:v>
                  </c:pt>
                  <c:pt idx="5">
                    <c:v>Dairy &amp;
Macadamia</c:v>
                  </c:pt>
                </c:lvl>
              </c:multiLvlStrCache>
            </c:multiLvlStrRef>
          </c:cat>
          <c:val>
            <c:numRef>
              <c:f>Sheet1!$B$2:$B$7</c:f>
              <c:numCache>
                <c:formatCode>General</c:formatCode>
                <c:ptCount val="6"/>
                <c:pt idx="0">
                  <c:v>186</c:v>
                </c:pt>
                <c:pt idx="1">
                  <c:v>34</c:v>
                </c:pt>
                <c:pt idx="2">
                  <c:v>24</c:v>
                </c:pt>
                <c:pt idx="3">
                  <c:v>24</c:v>
                </c:pt>
                <c:pt idx="4">
                  <c:v>20</c:v>
                </c:pt>
                <c:pt idx="5">
                  <c:v>12</c:v>
                </c:pt>
              </c:numCache>
            </c:numRef>
          </c:val>
        </c:ser>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46E7A"/>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46E7A"/>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5E20"/>
        </a:solidFill>
      </p:bgPr>
    </p:bg>
    <p:spTree>
      <p:nvGrpSpPr>
        <p:cNvPr id="1" name=""/>
        <p:cNvGrpSpPr/>
        <p:nvPr/>
      </p:nvGrpSpPr>
      <p:grpSpPr>
        <a:xfrm>
          <a:off x="0" y="0"/>
          <a:ext cx="0" cy="0"/>
          <a:chOff x="0" y="0"/>
          <a:chExt cx="0" cy="0"/>
        </a:xfrm>
      </p:grpSpPr>
      <p:pic>
        <p:nvPicPr>
          <p:cNvPr id="2" name="Image 0" descr="https://em-content.zobj.net/thumbs/120/apple/354/sheaf-of-rice_1f33e.png">    </p:cNvPr>
          <p:cNvPicPr>
            <a:picLocks noChangeAspect="1"/>
          </p:cNvPicPr>
          <p:nvPr/>
        </p:nvPicPr>
        <p:blipFill>
          <a:blip r:embed="rId1"/>
          <a:stretch>
            <a:fillRect/>
          </a:stretch>
        </p:blipFill>
        <p:spPr>
          <a:xfrm>
            <a:off x="274320" y="182880"/>
            <a:ext cx="914400" cy="914400"/>
          </a:xfrm>
          <a:prstGeom prst="rect">
            <a:avLst/>
          </a:prstGeom>
        </p:spPr>
      </p:pic>
      <p:sp>
        <p:nvSpPr>
          <p:cNvPr id="3" name="Text 0"/>
          <p:cNvSpPr/>
          <p:nvPr/>
        </p:nvSpPr>
        <p:spPr>
          <a:xfrm>
            <a:off x="1645920" y="320040"/>
            <a:ext cx="7132320" cy="82296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Kenya Smart Agriculture</a:t>
            </a:r>
            <a:endParaRPr lang="en-US" sz="4000" dirty="0"/>
          </a:p>
        </p:txBody>
      </p:sp>
      <p:sp>
        <p:nvSpPr>
          <p:cNvPr id="4" name="Text 1"/>
          <p:cNvSpPr/>
          <p:nvPr/>
        </p:nvSpPr>
        <p:spPr>
          <a:xfrm>
            <a:off x="1645920" y="1097280"/>
            <a:ext cx="7132320" cy="640080"/>
          </a:xfrm>
          <a:prstGeom prst="rect">
            <a:avLst/>
          </a:prstGeom>
          <a:noFill/>
          <a:ln/>
        </p:spPr>
        <p:txBody>
          <a:bodyPr wrap="square" rtlCol="0" anchor="ctr"/>
          <a:lstStyle/>
          <a:p>
            <a:pPr indent="0" marL="0">
              <a:buNone/>
            </a:pPr>
            <a:r>
              <a:rPr lang="en-US" sz="2800" dirty="0">
                <a:solidFill>
                  <a:srgbClr val="A5D6A7"/>
                </a:solidFill>
                <a:latin typeface="Calibri" pitchFamily="34" charset="0"/>
                <a:ea typeface="Calibri" pitchFamily="34" charset="-122"/>
                <a:cs typeface="Calibri" pitchFamily="34" charset="-120"/>
              </a:rPr>
              <a:t>&amp; Market Intelligence Platform</a:t>
            </a:r>
            <a:endParaRPr lang="en-US" sz="2800" dirty="0"/>
          </a:p>
        </p:txBody>
      </p:sp>
      <p:sp>
        <p:nvSpPr>
          <p:cNvPr id="5" name="Shape 2"/>
          <p:cNvSpPr/>
          <p:nvPr/>
        </p:nvSpPr>
        <p:spPr>
          <a:xfrm>
            <a:off x="1645920" y="1874520"/>
            <a:ext cx="5943600" cy="36576"/>
          </a:xfrm>
          <a:prstGeom prst="rect">
            <a:avLst/>
          </a:prstGeom>
          <a:solidFill>
            <a:srgbClr val="66BB6A"/>
          </a:solidFill>
          <a:ln w="12700">
            <a:solidFill>
              <a:srgbClr val="66BB6A"/>
            </a:solidFill>
            <a:prstDash val="solid"/>
          </a:ln>
        </p:spPr>
      </p:sp>
      <p:sp>
        <p:nvSpPr>
          <p:cNvPr id="6" name="Text 3"/>
          <p:cNvSpPr/>
          <p:nvPr/>
        </p:nvSpPr>
        <p:spPr>
          <a:xfrm>
            <a:off x="1645920" y="2011680"/>
            <a:ext cx="6858000" cy="822960"/>
          </a:xfrm>
          <a:prstGeom prst="rect">
            <a:avLst/>
          </a:prstGeom>
          <a:noFill/>
          <a:ln/>
        </p:spPr>
        <p:txBody>
          <a:bodyPr wrap="square" rtlCol="0" anchor="ctr"/>
          <a:lstStyle/>
          <a:p>
            <a:pPr indent="0" marL="0">
              <a:lnSpc>
                <a:spcPct val="130000"/>
              </a:lnSpc>
              <a:buNone/>
            </a:pPr>
            <a:r>
              <a:rPr lang="en-US" sz="1400" dirty="0">
                <a:solidFill>
                  <a:srgbClr val="C8E6C9"/>
                </a:solidFill>
                <a:latin typeface="Calibri" pitchFamily="34" charset="0"/>
                <a:ea typeface="Calibri" pitchFamily="34" charset="-122"/>
                <a:cs typeface="Calibri" pitchFamily="34" charset="-120"/>
              </a:rPr>
              <a:t>Using NASA satellite weather data to predict food security risk, forecast food prices,</a:t>
            </a:r>
            <a:endParaRPr lang="en-US" sz="1400" dirty="0"/>
          </a:p>
          <a:p>
            <a:pPr indent="0" marL="0">
              <a:lnSpc>
                <a:spcPct val="130000"/>
              </a:lnSpc>
              <a:buNone/>
            </a:pPr>
            <a:r>
              <a:rPr lang="en-US" sz="1400" dirty="0">
                <a:solidFill>
                  <a:srgbClr val="C8E6C9"/>
                </a:solidFill>
                <a:latin typeface="Calibri" pitchFamily="34" charset="0"/>
                <a:ea typeface="Calibri" pitchFamily="34" charset="-122"/>
                <a:cs typeface="Calibri" pitchFamily="34" charset="-120"/>
              </a:rPr>
              <a:t>and recommend crops to farmers across all 47 counties in Kenya.</a:t>
            </a:r>
            <a:endParaRPr lang="en-US" sz="1400" dirty="0"/>
          </a:p>
        </p:txBody>
      </p:sp>
      <p:sp>
        <p:nvSpPr>
          <p:cNvPr id="7" name="Shape 4"/>
          <p:cNvSpPr/>
          <p:nvPr/>
        </p:nvSpPr>
        <p:spPr>
          <a:xfrm>
            <a:off x="914400" y="3108960"/>
            <a:ext cx="1737360" cy="1005840"/>
          </a:xfrm>
          <a:prstGeom prst="rect">
            <a:avLst/>
          </a:prstGeom>
          <a:solidFill>
            <a:srgbClr val="2E7D32"/>
          </a:solidFill>
          <a:ln w="12700">
            <a:solidFill>
              <a:srgbClr val="66BB6A"/>
            </a:solidFill>
            <a:prstDash val="solid"/>
          </a:ln>
          <a:effectLst>
            <a:outerShdw sx="100000" sy="100000" kx="0" ky="0" algn="bl" rotWithShape="0" blurRad="101600" dist="38100" dir="8100000">
              <a:srgbClr val="000000">
                <a:alpha val="12000"/>
              </a:srgbClr>
            </a:outerShdw>
          </a:effectLst>
        </p:spPr>
      </p:sp>
      <p:sp>
        <p:nvSpPr>
          <p:cNvPr id="8" name="Text 5"/>
          <p:cNvSpPr/>
          <p:nvPr/>
        </p:nvSpPr>
        <p:spPr>
          <a:xfrm>
            <a:off x="914400" y="3154680"/>
            <a:ext cx="1737360" cy="502920"/>
          </a:xfrm>
          <a:prstGeom prst="rect">
            <a:avLst/>
          </a:prstGeom>
          <a:noFill/>
          <a:ln/>
        </p:spPr>
        <p:txBody>
          <a:bodyPr wrap="square" rtlCol="0" anchor="ctr"/>
          <a:lstStyle/>
          <a:p>
            <a:pPr algn="ctr" indent="0" marL="0">
              <a:buNone/>
            </a:pPr>
            <a:r>
              <a:rPr lang="en-US" sz="2600" b="1" dirty="0">
                <a:solidFill>
                  <a:srgbClr val="FFFFFF"/>
                </a:solidFill>
              </a:rPr>
              <a:t>47</a:t>
            </a:r>
            <a:endParaRPr lang="en-US" sz="2600" dirty="0"/>
          </a:p>
        </p:txBody>
      </p:sp>
      <p:sp>
        <p:nvSpPr>
          <p:cNvPr id="9" name="Text 6"/>
          <p:cNvSpPr/>
          <p:nvPr/>
        </p:nvSpPr>
        <p:spPr>
          <a:xfrm>
            <a:off x="914400" y="3611880"/>
            <a:ext cx="1737360" cy="320040"/>
          </a:xfrm>
          <a:prstGeom prst="rect">
            <a:avLst/>
          </a:prstGeom>
          <a:noFill/>
          <a:ln/>
        </p:spPr>
        <p:txBody>
          <a:bodyPr wrap="square" rtlCol="0" anchor="ctr"/>
          <a:lstStyle/>
          <a:p>
            <a:pPr algn="ctr" indent="0" marL="0">
              <a:buNone/>
            </a:pPr>
            <a:r>
              <a:rPr lang="en-US" sz="1100" dirty="0">
                <a:solidFill>
                  <a:srgbClr val="A5D6A7"/>
                </a:solidFill>
              </a:rPr>
              <a:t>Counties</a:t>
            </a:r>
            <a:endParaRPr lang="en-US" sz="1100" dirty="0"/>
          </a:p>
        </p:txBody>
      </p:sp>
      <p:sp>
        <p:nvSpPr>
          <p:cNvPr id="10" name="Shape 7"/>
          <p:cNvSpPr/>
          <p:nvPr/>
        </p:nvSpPr>
        <p:spPr>
          <a:xfrm>
            <a:off x="2834640" y="3108960"/>
            <a:ext cx="1737360" cy="1005840"/>
          </a:xfrm>
          <a:prstGeom prst="rect">
            <a:avLst/>
          </a:prstGeom>
          <a:solidFill>
            <a:srgbClr val="2E7D32"/>
          </a:solidFill>
          <a:ln w="12700">
            <a:solidFill>
              <a:srgbClr val="66BB6A"/>
            </a:solidFill>
            <a:prstDash val="solid"/>
          </a:ln>
          <a:effectLst>
            <a:outerShdw sx="100000" sy="100000" kx="0" ky="0" algn="bl" rotWithShape="0" blurRad="101600" dist="38100" dir="8100000">
              <a:srgbClr val="000000">
                <a:alpha val="12000"/>
              </a:srgbClr>
            </a:outerShdw>
          </a:effectLst>
        </p:spPr>
      </p:sp>
      <p:sp>
        <p:nvSpPr>
          <p:cNvPr id="11" name="Text 8"/>
          <p:cNvSpPr/>
          <p:nvPr/>
        </p:nvSpPr>
        <p:spPr>
          <a:xfrm>
            <a:off x="2834640" y="3154680"/>
            <a:ext cx="1737360" cy="502920"/>
          </a:xfrm>
          <a:prstGeom prst="rect">
            <a:avLst/>
          </a:prstGeom>
          <a:noFill/>
          <a:ln/>
        </p:spPr>
        <p:txBody>
          <a:bodyPr wrap="square" rtlCol="0" anchor="ctr"/>
          <a:lstStyle/>
          <a:p>
            <a:pPr algn="ctr" indent="0" marL="0">
              <a:buNone/>
            </a:pPr>
            <a:r>
              <a:rPr lang="en-US" sz="2600" b="1" dirty="0">
                <a:solidFill>
                  <a:srgbClr val="FFFFFF"/>
                </a:solidFill>
              </a:rPr>
              <a:t>409,811</a:t>
            </a:r>
            <a:endParaRPr lang="en-US" sz="2600" dirty="0"/>
          </a:p>
        </p:txBody>
      </p:sp>
      <p:sp>
        <p:nvSpPr>
          <p:cNvPr id="12" name="Text 9"/>
          <p:cNvSpPr/>
          <p:nvPr/>
        </p:nvSpPr>
        <p:spPr>
          <a:xfrm>
            <a:off x="2834640" y="3611880"/>
            <a:ext cx="1737360" cy="320040"/>
          </a:xfrm>
          <a:prstGeom prst="rect">
            <a:avLst/>
          </a:prstGeom>
          <a:noFill/>
          <a:ln/>
        </p:spPr>
        <p:txBody>
          <a:bodyPr wrap="square" rtlCol="0" anchor="ctr"/>
          <a:lstStyle/>
          <a:p>
            <a:pPr algn="ctr" indent="0" marL="0">
              <a:buNone/>
            </a:pPr>
            <a:r>
              <a:rPr lang="en-US" sz="1100" dirty="0">
                <a:solidFill>
                  <a:srgbClr val="A5D6A7"/>
                </a:solidFill>
              </a:rPr>
              <a:t>NASA Records</a:t>
            </a:r>
            <a:endParaRPr lang="en-US" sz="1100" dirty="0"/>
          </a:p>
        </p:txBody>
      </p:sp>
      <p:sp>
        <p:nvSpPr>
          <p:cNvPr id="13" name="Shape 10"/>
          <p:cNvSpPr/>
          <p:nvPr/>
        </p:nvSpPr>
        <p:spPr>
          <a:xfrm>
            <a:off x="4754880" y="3108960"/>
            <a:ext cx="1737360" cy="1005840"/>
          </a:xfrm>
          <a:prstGeom prst="rect">
            <a:avLst/>
          </a:prstGeom>
          <a:solidFill>
            <a:srgbClr val="2E7D32"/>
          </a:solidFill>
          <a:ln w="12700">
            <a:solidFill>
              <a:srgbClr val="66BB6A"/>
            </a:solidFill>
            <a:prstDash val="solid"/>
          </a:ln>
          <a:effectLst>
            <a:outerShdw sx="100000" sy="100000" kx="0" ky="0" algn="bl" rotWithShape="0" blurRad="101600" dist="38100" dir="8100000">
              <a:srgbClr val="000000">
                <a:alpha val="12000"/>
              </a:srgbClr>
            </a:outerShdw>
          </a:effectLst>
        </p:spPr>
      </p:sp>
      <p:sp>
        <p:nvSpPr>
          <p:cNvPr id="14" name="Text 11"/>
          <p:cNvSpPr/>
          <p:nvPr/>
        </p:nvSpPr>
        <p:spPr>
          <a:xfrm>
            <a:off x="4754880" y="3154680"/>
            <a:ext cx="1737360" cy="502920"/>
          </a:xfrm>
          <a:prstGeom prst="rect">
            <a:avLst/>
          </a:prstGeom>
          <a:noFill/>
          <a:ln/>
        </p:spPr>
        <p:txBody>
          <a:bodyPr wrap="square" rtlCol="0" anchor="ctr"/>
          <a:lstStyle/>
          <a:p>
            <a:pPr algn="ctr" indent="0" marL="0">
              <a:buNone/>
            </a:pPr>
            <a:r>
              <a:rPr lang="en-US" sz="2600" b="1" dirty="0">
                <a:solidFill>
                  <a:srgbClr val="FFFFFF"/>
                </a:solidFill>
              </a:rPr>
              <a:t>226</a:t>
            </a:r>
            <a:endParaRPr lang="en-US" sz="2600" dirty="0"/>
          </a:p>
        </p:txBody>
      </p:sp>
      <p:sp>
        <p:nvSpPr>
          <p:cNvPr id="15" name="Text 12"/>
          <p:cNvSpPr/>
          <p:nvPr/>
        </p:nvSpPr>
        <p:spPr>
          <a:xfrm>
            <a:off x="4754880" y="3611880"/>
            <a:ext cx="1737360" cy="320040"/>
          </a:xfrm>
          <a:prstGeom prst="rect">
            <a:avLst/>
          </a:prstGeom>
          <a:noFill/>
          <a:ln/>
        </p:spPr>
        <p:txBody>
          <a:bodyPr wrap="square" rtlCol="0" anchor="ctr"/>
          <a:lstStyle/>
          <a:p>
            <a:pPr algn="ctr" indent="0" marL="0">
              <a:buNone/>
            </a:pPr>
            <a:r>
              <a:rPr lang="en-US" sz="1100" dirty="0">
                <a:solidFill>
                  <a:srgbClr val="A5D6A7"/>
                </a:solidFill>
              </a:rPr>
              <a:t>WFP Markets</a:t>
            </a:r>
            <a:endParaRPr lang="en-US" sz="1100" dirty="0"/>
          </a:p>
        </p:txBody>
      </p:sp>
      <p:sp>
        <p:nvSpPr>
          <p:cNvPr id="16" name="Shape 13"/>
          <p:cNvSpPr/>
          <p:nvPr/>
        </p:nvSpPr>
        <p:spPr>
          <a:xfrm>
            <a:off x="6675120" y="3108960"/>
            <a:ext cx="1737360" cy="1005840"/>
          </a:xfrm>
          <a:prstGeom prst="rect">
            <a:avLst/>
          </a:prstGeom>
          <a:solidFill>
            <a:srgbClr val="2E7D32"/>
          </a:solidFill>
          <a:ln w="12700">
            <a:solidFill>
              <a:srgbClr val="66BB6A"/>
            </a:solidFill>
            <a:prstDash val="solid"/>
          </a:ln>
          <a:effectLst>
            <a:outerShdw sx="100000" sy="100000" kx="0" ky="0" algn="bl" rotWithShape="0" blurRad="101600" dist="38100" dir="8100000">
              <a:srgbClr val="000000">
                <a:alpha val="12000"/>
              </a:srgbClr>
            </a:outerShdw>
          </a:effectLst>
        </p:spPr>
      </p:sp>
      <p:sp>
        <p:nvSpPr>
          <p:cNvPr id="17" name="Text 14"/>
          <p:cNvSpPr/>
          <p:nvPr/>
        </p:nvSpPr>
        <p:spPr>
          <a:xfrm>
            <a:off x="6675120" y="3154680"/>
            <a:ext cx="1737360" cy="502920"/>
          </a:xfrm>
          <a:prstGeom prst="rect">
            <a:avLst/>
          </a:prstGeom>
          <a:noFill/>
          <a:ln/>
        </p:spPr>
        <p:txBody>
          <a:bodyPr wrap="square" rtlCol="0" anchor="ctr"/>
          <a:lstStyle/>
          <a:p>
            <a:pPr algn="ctr" indent="0" marL="0">
              <a:buNone/>
            </a:pPr>
            <a:r>
              <a:rPr lang="en-US" sz="2600" b="1" dirty="0">
                <a:solidFill>
                  <a:srgbClr val="FFFFFF"/>
                </a:solidFill>
              </a:rPr>
              <a:t>5</a:t>
            </a:r>
            <a:endParaRPr lang="en-US" sz="2600" dirty="0"/>
          </a:p>
        </p:txBody>
      </p:sp>
      <p:sp>
        <p:nvSpPr>
          <p:cNvPr id="18" name="Text 15"/>
          <p:cNvSpPr/>
          <p:nvPr/>
        </p:nvSpPr>
        <p:spPr>
          <a:xfrm>
            <a:off x="6675120" y="3611880"/>
            <a:ext cx="1737360" cy="320040"/>
          </a:xfrm>
          <a:prstGeom prst="rect">
            <a:avLst/>
          </a:prstGeom>
          <a:noFill/>
          <a:ln/>
        </p:spPr>
        <p:txBody>
          <a:bodyPr wrap="square" rtlCol="0" anchor="ctr"/>
          <a:lstStyle/>
          <a:p>
            <a:pPr algn="ctr" indent="0" marL="0">
              <a:buNone/>
            </a:pPr>
            <a:r>
              <a:rPr lang="en-US" sz="1100" dirty="0">
                <a:solidFill>
                  <a:srgbClr val="A5D6A7"/>
                </a:solidFill>
              </a:rPr>
              <a:t>ML Models</a:t>
            </a:r>
            <a:endParaRPr lang="en-US" sz="1100" dirty="0"/>
          </a:p>
        </p:txBody>
      </p:sp>
      <p:sp>
        <p:nvSpPr>
          <p:cNvPr id="19" name="Text 16"/>
          <p:cNvSpPr/>
          <p:nvPr/>
        </p:nvSpPr>
        <p:spPr>
          <a:xfrm>
            <a:off x="0" y="4754880"/>
            <a:ext cx="9144000" cy="274320"/>
          </a:xfrm>
          <a:prstGeom prst="rect">
            <a:avLst/>
          </a:prstGeom>
          <a:noFill/>
          <a:ln/>
        </p:spPr>
        <p:txBody>
          <a:bodyPr wrap="square" rtlCol="0" anchor="ctr"/>
          <a:lstStyle/>
          <a:p>
            <a:pPr algn="ctr" indent="0" marL="0">
              <a:buNone/>
            </a:pPr>
            <a:r>
              <a:rPr lang="en-US" sz="1000" dirty="0">
                <a:solidFill>
                  <a:srgbClr val="81C784"/>
                </a:solidFill>
              </a:rPr>
              <a:t>Built by Eve Otieno  |  kenya-smart-agriculture.streamlit.app</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5E20"/>
          </a:solidFill>
          <a:ln w="12700">
            <a:solidFill>
              <a:srgbClr val="1B5E20"/>
            </a:solidFill>
            <a:prstDash val="solid"/>
          </a:ln>
        </p:spPr>
      </p:sp>
      <p:sp>
        <p:nvSpPr>
          <p:cNvPr id="3" name="Text 1"/>
          <p:cNvSpPr/>
          <p:nvPr/>
        </p:nvSpPr>
        <p:spPr>
          <a:xfrm>
            <a:off x="274320" y="137160"/>
            <a:ext cx="8595360" cy="7315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  The Problem</a:t>
            </a:r>
            <a:endParaRPr lang="en-US" sz="3000" dirty="0"/>
          </a:p>
        </p:txBody>
      </p:sp>
      <p:sp>
        <p:nvSpPr>
          <p:cNvPr id="4" name="Shape 2"/>
          <p:cNvSpPr/>
          <p:nvPr/>
        </p:nvSpPr>
        <p:spPr>
          <a:xfrm>
            <a:off x="365760" y="1143000"/>
            <a:ext cx="8412480" cy="1097280"/>
          </a:xfrm>
          <a:prstGeom prst="rect">
            <a:avLst/>
          </a:prstGeom>
          <a:solidFill>
            <a:srgbClr val="FFF3E0"/>
          </a:solidFill>
          <a:ln w="12700">
            <a:solidFill>
              <a:srgbClr val="E65100"/>
            </a:solidFill>
            <a:prstDash val="solid"/>
          </a:ln>
          <a:effectLst>
            <a:outerShdw sx="100000" sy="100000" kx="0" ky="0" algn="bl" rotWithShape="0" blurRad="101600" dist="38100" dir="8100000">
              <a:srgbClr val="000000">
                <a:alpha val="12000"/>
              </a:srgbClr>
            </a:outerShdw>
          </a:effectLst>
        </p:spPr>
      </p:sp>
      <p:sp>
        <p:nvSpPr>
          <p:cNvPr id="5" name="Text 3"/>
          <p:cNvSpPr/>
          <p:nvPr/>
        </p:nvSpPr>
        <p:spPr>
          <a:xfrm>
            <a:off x="457200" y="1371600"/>
            <a:ext cx="640080" cy="64008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6" name="Text 4"/>
          <p:cNvSpPr/>
          <p:nvPr/>
        </p:nvSpPr>
        <p:spPr>
          <a:xfrm>
            <a:off x="1188720" y="1216152"/>
            <a:ext cx="7132320" cy="365760"/>
          </a:xfrm>
          <a:prstGeom prst="rect">
            <a:avLst/>
          </a:prstGeom>
          <a:noFill/>
          <a:ln/>
        </p:spPr>
        <p:txBody>
          <a:bodyPr wrap="square" rtlCol="0" anchor="ctr"/>
          <a:lstStyle/>
          <a:p>
            <a:pPr indent="0" marL="0">
              <a:buNone/>
            </a:pPr>
            <a:r>
              <a:rPr lang="en-US" sz="1500" b="1" dirty="0">
                <a:solidFill>
                  <a:srgbClr val="263238"/>
                </a:solidFill>
              </a:rPr>
              <a:t>Response is Too Late</a:t>
            </a:r>
            <a:endParaRPr lang="en-US" sz="1500" dirty="0"/>
          </a:p>
        </p:txBody>
      </p:sp>
      <p:sp>
        <p:nvSpPr>
          <p:cNvPr id="7" name="Text 5"/>
          <p:cNvSpPr/>
          <p:nvPr/>
        </p:nvSpPr>
        <p:spPr>
          <a:xfrm>
            <a:off x="1188720" y="1563624"/>
            <a:ext cx="7132320" cy="594360"/>
          </a:xfrm>
          <a:prstGeom prst="rect">
            <a:avLst/>
          </a:prstGeom>
          <a:noFill/>
          <a:ln/>
        </p:spPr>
        <p:txBody>
          <a:bodyPr wrap="square" rtlCol="0" anchor="ctr"/>
          <a:lstStyle/>
          <a:p>
            <a:pPr indent="0" marL="0">
              <a:lnSpc>
                <a:spcPct val="120000"/>
              </a:lnSpc>
              <a:buNone/>
            </a:pPr>
            <a:r>
              <a:rPr lang="en-US" sz="1150" dirty="0">
                <a:solidFill>
                  <a:srgbClr val="546E7A"/>
                </a:solidFill>
              </a:rPr>
              <a:t>Food security phases are assessed manually every 3 months. By the time a county is declared in crisis, the situation has been deteriorating for months. Emergency aid arrives after the crisis has peaked.</a:t>
            </a:r>
            <a:endParaRPr lang="en-US" sz="1150" dirty="0"/>
          </a:p>
        </p:txBody>
      </p:sp>
      <p:sp>
        <p:nvSpPr>
          <p:cNvPr id="8" name="Shape 6"/>
          <p:cNvSpPr/>
          <p:nvPr/>
        </p:nvSpPr>
        <p:spPr>
          <a:xfrm>
            <a:off x="365760" y="2377440"/>
            <a:ext cx="8412480" cy="1097280"/>
          </a:xfrm>
          <a:prstGeom prst="rect">
            <a:avLst/>
          </a:prstGeom>
          <a:solidFill>
            <a:srgbClr val="FCE4EC"/>
          </a:solidFill>
          <a:ln w="12700">
            <a:solidFill>
              <a:srgbClr val="C62828"/>
            </a:solidFill>
            <a:prstDash val="solid"/>
          </a:ln>
          <a:effectLst>
            <a:outerShdw sx="100000" sy="100000" kx="0" ky="0" algn="bl" rotWithShape="0" blurRad="101600" dist="38100" dir="8100000">
              <a:srgbClr val="000000">
                <a:alpha val="12000"/>
              </a:srgbClr>
            </a:outerShdw>
          </a:effectLst>
        </p:spPr>
      </p:sp>
      <p:sp>
        <p:nvSpPr>
          <p:cNvPr id="9" name="Text 7"/>
          <p:cNvSpPr/>
          <p:nvPr/>
        </p:nvSpPr>
        <p:spPr>
          <a:xfrm>
            <a:off x="457200" y="2606040"/>
            <a:ext cx="640080" cy="64008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0" name="Text 8"/>
          <p:cNvSpPr/>
          <p:nvPr/>
        </p:nvSpPr>
        <p:spPr>
          <a:xfrm>
            <a:off x="1188720" y="2450592"/>
            <a:ext cx="7132320" cy="365760"/>
          </a:xfrm>
          <a:prstGeom prst="rect">
            <a:avLst/>
          </a:prstGeom>
          <a:noFill/>
          <a:ln/>
        </p:spPr>
        <p:txBody>
          <a:bodyPr wrap="square" rtlCol="0" anchor="ctr"/>
          <a:lstStyle/>
          <a:p>
            <a:pPr indent="0" marL="0">
              <a:buNone/>
            </a:pPr>
            <a:r>
              <a:rPr lang="en-US" sz="1500" b="1" dirty="0">
                <a:solidFill>
                  <a:srgbClr val="263238"/>
                </a:solidFill>
              </a:rPr>
              <a:t>No Early Warning System</a:t>
            </a:r>
            <a:endParaRPr lang="en-US" sz="1500" dirty="0"/>
          </a:p>
        </p:txBody>
      </p:sp>
      <p:sp>
        <p:nvSpPr>
          <p:cNvPr id="11" name="Text 9"/>
          <p:cNvSpPr/>
          <p:nvPr/>
        </p:nvSpPr>
        <p:spPr>
          <a:xfrm>
            <a:off x="1188720" y="2798064"/>
            <a:ext cx="7132320" cy="594360"/>
          </a:xfrm>
          <a:prstGeom prst="rect">
            <a:avLst/>
          </a:prstGeom>
          <a:noFill/>
          <a:ln/>
        </p:spPr>
        <p:txBody>
          <a:bodyPr wrap="square" rtlCol="0" anchor="ctr"/>
          <a:lstStyle/>
          <a:p>
            <a:pPr indent="0" marL="0">
              <a:lnSpc>
                <a:spcPct val="120000"/>
              </a:lnSpc>
              <a:buNone/>
            </a:pPr>
            <a:r>
              <a:rPr lang="en-US" sz="1150" dirty="0">
                <a:solidFill>
                  <a:srgbClr val="546E7A"/>
                </a:solidFill>
              </a:rPr>
              <a:t>Rainfall deficits cause food price spikes 2–3 months later. This pattern is predictable — but no automated tool connects NASA weather data to market prices. Farmers get blindsided.</a:t>
            </a:r>
            <a:endParaRPr lang="en-US" sz="1150" dirty="0"/>
          </a:p>
        </p:txBody>
      </p:sp>
      <p:sp>
        <p:nvSpPr>
          <p:cNvPr id="12" name="Shape 10"/>
          <p:cNvSpPr/>
          <p:nvPr/>
        </p:nvSpPr>
        <p:spPr>
          <a:xfrm>
            <a:off x="365760" y="3611880"/>
            <a:ext cx="8412480" cy="1097280"/>
          </a:xfrm>
          <a:prstGeom prst="rect">
            <a:avLst/>
          </a:prstGeom>
          <a:solidFill>
            <a:srgbClr val="E3F2FD"/>
          </a:solidFill>
          <a:ln w="12700">
            <a:solidFill>
              <a:srgbClr val="1565C0"/>
            </a:solidFill>
            <a:prstDash val="solid"/>
          </a:ln>
          <a:effectLst>
            <a:outerShdw sx="100000" sy="100000" kx="0" ky="0" algn="bl" rotWithShape="0" blurRad="101600" dist="38100" dir="8100000">
              <a:srgbClr val="000000">
                <a:alpha val="12000"/>
              </a:srgbClr>
            </a:outerShdw>
          </a:effectLst>
        </p:spPr>
      </p:sp>
      <p:sp>
        <p:nvSpPr>
          <p:cNvPr id="13" name="Text 11"/>
          <p:cNvSpPr/>
          <p:nvPr/>
        </p:nvSpPr>
        <p:spPr>
          <a:xfrm>
            <a:off x="457200" y="3840480"/>
            <a:ext cx="640080" cy="64008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4" name="Text 12"/>
          <p:cNvSpPr/>
          <p:nvPr/>
        </p:nvSpPr>
        <p:spPr>
          <a:xfrm>
            <a:off x="1188720" y="3685032"/>
            <a:ext cx="7132320" cy="365760"/>
          </a:xfrm>
          <a:prstGeom prst="rect">
            <a:avLst/>
          </a:prstGeom>
          <a:noFill/>
          <a:ln/>
        </p:spPr>
        <p:txBody>
          <a:bodyPr wrap="square" rtlCol="0" anchor="ctr"/>
          <a:lstStyle/>
          <a:p>
            <a:pPr indent="0" marL="0">
              <a:buNone/>
            </a:pPr>
            <a:r>
              <a:rPr lang="en-US" sz="1500" b="1" dirty="0">
                <a:solidFill>
                  <a:srgbClr val="263238"/>
                </a:solidFill>
              </a:rPr>
              <a:t>Data Exists But Is Fragmented</a:t>
            </a:r>
            <a:endParaRPr lang="en-US" sz="1500" dirty="0"/>
          </a:p>
        </p:txBody>
      </p:sp>
      <p:sp>
        <p:nvSpPr>
          <p:cNvPr id="15" name="Text 13"/>
          <p:cNvSpPr/>
          <p:nvPr/>
        </p:nvSpPr>
        <p:spPr>
          <a:xfrm>
            <a:off x="1188720" y="4032504"/>
            <a:ext cx="7132320" cy="594360"/>
          </a:xfrm>
          <a:prstGeom prst="rect">
            <a:avLst/>
          </a:prstGeom>
          <a:noFill/>
          <a:ln/>
        </p:spPr>
        <p:txBody>
          <a:bodyPr wrap="square" rtlCol="0" anchor="ctr"/>
          <a:lstStyle/>
          <a:p>
            <a:pPr indent="0" marL="0">
              <a:lnSpc>
                <a:spcPct val="120000"/>
              </a:lnSpc>
              <a:buNone/>
            </a:pPr>
            <a:r>
              <a:rPr lang="en-US" sz="1150" dirty="0">
                <a:solidFill>
                  <a:srgbClr val="546E7A"/>
                </a:solidFill>
              </a:rPr>
              <a:t>NASA has 24 years of weather data. FEWS NET has IPC classifications. KNBS has monthly price reports. WFP has 226 market price records. None of it had ever been merged and used predictively.</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9FBF7"/>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E7D32"/>
          </a:solidFill>
          <a:ln w="12700">
            <a:solidFill>
              <a:srgbClr val="2E7D32"/>
            </a:solidFill>
            <a:prstDash val="solid"/>
          </a:ln>
        </p:spPr>
      </p:sp>
      <p:sp>
        <p:nvSpPr>
          <p:cNvPr id="3" name="Text 1"/>
          <p:cNvSpPr/>
          <p:nvPr/>
        </p:nvSpPr>
        <p:spPr>
          <a:xfrm>
            <a:off x="274320" y="137160"/>
            <a:ext cx="8595360" cy="731520"/>
          </a:xfrm>
          <a:prstGeom prst="rect">
            <a:avLst/>
          </a:prstGeom>
          <a:noFill/>
          <a:ln/>
        </p:spPr>
        <p:txBody>
          <a:bodyPr wrap="square" rtlCol="0" anchor="ctr"/>
          <a:lstStyle/>
          <a:p>
            <a:pPr indent="0" marL="0">
              <a:buNone/>
            </a:pPr>
            <a:r>
              <a:rPr lang="en-US" sz="2600" b="1" dirty="0">
                <a:solidFill>
                  <a:srgbClr val="FFFFFF"/>
                </a:solidFill>
              </a:rPr>
              <a:t>✅  The Solution — Four Integrated ML Modules</a:t>
            </a:r>
            <a:endParaRPr lang="en-US" sz="2600" dirty="0"/>
          </a:p>
        </p:txBody>
      </p:sp>
      <p:sp>
        <p:nvSpPr>
          <p:cNvPr id="4" name="Shape 2"/>
          <p:cNvSpPr/>
          <p:nvPr/>
        </p:nvSpPr>
        <p:spPr>
          <a:xfrm>
            <a:off x="274320" y="1143000"/>
            <a:ext cx="2011680" cy="3749040"/>
          </a:xfrm>
          <a:prstGeom prst="rect">
            <a:avLst/>
          </a:prstGeom>
          <a:solidFill>
            <a:srgbClr val="FFEBEE"/>
          </a:solidFill>
          <a:ln w="19050">
            <a:solidFill>
              <a:srgbClr val="C62828"/>
            </a:solidFill>
            <a:prstDash val="solid"/>
          </a:ln>
          <a:effectLst>
            <a:outerShdw sx="100000" sy="100000" kx="0" ky="0" algn="bl" rotWithShape="0" blurRad="101600" dist="38100" dir="8100000">
              <a:srgbClr val="000000">
                <a:alpha val="12000"/>
              </a:srgbClr>
            </a:outerShdw>
          </a:effectLst>
        </p:spPr>
      </p:sp>
      <p:sp>
        <p:nvSpPr>
          <p:cNvPr id="5" name="Text 3"/>
          <p:cNvSpPr/>
          <p:nvPr/>
        </p:nvSpPr>
        <p:spPr>
          <a:xfrm>
            <a:off x="274320" y="1234440"/>
            <a:ext cx="2011680"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6" name="Text 4"/>
          <p:cNvSpPr/>
          <p:nvPr/>
        </p:nvSpPr>
        <p:spPr>
          <a:xfrm>
            <a:off x="365760" y="1783080"/>
            <a:ext cx="1828800" cy="594360"/>
          </a:xfrm>
          <a:prstGeom prst="rect">
            <a:avLst/>
          </a:prstGeom>
          <a:noFill/>
          <a:ln/>
        </p:spPr>
        <p:txBody>
          <a:bodyPr wrap="square" rtlCol="0" anchor="ctr"/>
          <a:lstStyle/>
          <a:p>
            <a:pPr algn="ctr" indent="0" marL="0">
              <a:buNone/>
            </a:pPr>
            <a:r>
              <a:rPr lang="en-US" sz="1300" b="1" dirty="0">
                <a:solidFill>
                  <a:srgbClr val="263238"/>
                </a:solidFill>
              </a:rPr>
              <a:t>Food Security</a:t>
            </a:r>
            <a:endParaRPr lang="en-US" sz="1300" dirty="0"/>
          </a:p>
          <a:p>
            <a:pPr algn="ctr" indent="0" marL="0">
              <a:buNone/>
            </a:pPr>
            <a:r>
              <a:rPr lang="en-US" sz="1300" b="1" dirty="0">
                <a:solidFill>
                  <a:srgbClr val="263238"/>
                </a:solidFill>
              </a:rPr>
              <a:t>Classifier</a:t>
            </a:r>
            <a:endParaRPr lang="en-US" sz="1300" dirty="0"/>
          </a:p>
        </p:txBody>
      </p:sp>
      <p:sp>
        <p:nvSpPr>
          <p:cNvPr id="7" name="Shape 5"/>
          <p:cNvSpPr/>
          <p:nvPr/>
        </p:nvSpPr>
        <p:spPr>
          <a:xfrm>
            <a:off x="365760" y="2395728"/>
            <a:ext cx="1828800" cy="36576"/>
          </a:xfrm>
          <a:prstGeom prst="rect">
            <a:avLst/>
          </a:prstGeom>
          <a:solidFill>
            <a:srgbClr val="C62828"/>
          </a:solidFill>
          <a:ln w="12700">
            <a:solidFill>
              <a:srgbClr val="C62828"/>
            </a:solidFill>
            <a:prstDash val="solid"/>
          </a:ln>
        </p:spPr>
      </p:sp>
      <p:sp>
        <p:nvSpPr>
          <p:cNvPr id="8" name="Text 6"/>
          <p:cNvSpPr/>
          <p:nvPr/>
        </p:nvSpPr>
        <p:spPr>
          <a:xfrm>
            <a:off x="347472" y="2487168"/>
            <a:ext cx="1874520" cy="640080"/>
          </a:xfrm>
          <a:prstGeom prst="rect">
            <a:avLst/>
          </a:prstGeom>
          <a:noFill/>
          <a:ln/>
        </p:spPr>
        <p:txBody>
          <a:bodyPr wrap="square" rtlCol="0" anchor="ctr"/>
          <a:lstStyle/>
          <a:p>
            <a:pPr algn="ctr" indent="0" marL="0">
              <a:lnSpc>
                <a:spcPct val="130000"/>
              </a:lnSpc>
              <a:buNone/>
            </a:pPr>
            <a:r>
              <a:rPr lang="en-US" sz="1050" dirty="0">
                <a:solidFill>
                  <a:srgbClr val="546E7A"/>
                </a:solidFill>
              </a:rPr>
              <a:t>Which counties are</a:t>
            </a:r>
            <a:endParaRPr lang="en-US" sz="1050" dirty="0"/>
          </a:p>
          <a:p>
            <a:pPr algn="ctr" indent="0" marL="0">
              <a:lnSpc>
                <a:spcPct val="130000"/>
              </a:lnSpc>
              <a:buNone/>
            </a:pPr>
            <a:r>
              <a:rPr lang="en-US" sz="1050" dirty="0">
                <a:solidFill>
                  <a:srgbClr val="546E7A"/>
                </a:solidFill>
              </a:rPr>
              <a:t>heading into food crisis?</a:t>
            </a:r>
            <a:endParaRPr lang="en-US" sz="1050" dirty="0"/>
          </a:p>
        </p:txBody>
      </p:sp>
      <p:sp>
        <p:nvSpPr>
          <p:cNvPr id="9" name="Shape 7"/>
          <p:cNvSpPr/>
          <p:nvPr/>
        </p:nvSpPr>
        <p:spPr>
          <a:xfrm>
            <a:off x="365760" y="3200400"/>
            <a:ext cx="1828800" cy="502920"/>
          </a:xfrm>
          <a:prstGeom prst="rect">
            <a:avLst/>
          </a:prstGeom>
          <a:solidFill>
            <a:srgbClr val="C62828"/>
          </a:solidFill>
          <a:ln w="12700">
            <a:solidFill>
              <a:srgbClr val="C62828"/>
            </a:solidFill>
            <a:prstDash val="solid"/>
          </a:ln>
        </p:spPr>
      </p:sp>
      <p:sp>
        <p:nvSpPr>
          <p:cNvPr id="10" name="Text 8"/>
          <p:cNvSpPr/>
          <p:nvPr/>
        </p:nvSpPr>
        <p:spPr>
          <a:xfrm>
            <a:off x="365760" y="3218688"/>
            <a:ext cx="1828800" cy="228600"/>
          </a:xfrm>
          <a:prstGeom prst="rect">
            <a:avLst/>
          </a:prstGeom>
          <a:noFill/>
          <a:ln/>
        </p:spPr>
        <p:txBody>
          <a:bodyPr wrap="square" rtlCol="0" anchor="ctr"/>
          <a:lstStyle/>
          <a:p>
            <a:pPr algn="ctr" indent="0" marL="0">
              <a:buNone/>
            </a:pPr>
            <a:r>
              <a:rPr lang="en-US" sz="1000" b="1" dirty="0">
                <a:solidFill>
                  <a:srgbClr val="FFFFFF"/>
                </a:solidFill>
              </a:rPr>
              <a:t>XGBoost</a:t>
            </a:r>
            <a:endParaRPr lang="en-US" sz="1000" dirty="0"/>
          </a:p>
        </p:txBody>
      </p:sp>
      <p:sp>
        <p:nvSpPr>
          <p:cNvPr id="11" name="Text 9"/>
          <p:cNvSpPr/>
          <p:nvPr/>
        </p:nvSpPr>
        <p:spPr>
          <a:xfrm>
            <a:off x="365760" y="3447288"/>
            <a:ext cx="1828800" cy="228600"/>
          </a:xfrm>
          <a:prstGeom prst="rect">
            <a:avLst/>
          </a:prstGeom>
          <a:noFill/>
          <a:ln/>
        </p:spPr>
        <p:txBody>
          <a:bodyPr wrap="square" rtlCol="0" anchor="ctr"/>
          <a:lstStyle/>
          <a:p>
            <a:pPr algn="ctr" indent="0" marL="0">
              <a:buNone/>
            </a:pPr>
            <a:r>
              <a:rPr lang="en-US" sz="1000" dirty="0">
                <a:solidFill>
                  <a:srgbClr val="FFFFFF"/>
                </a:solidFill>
              </a:rPr>
              <a:t>F1 = 0.738</a:t>
            </a:r>
            <a:endParaRPr lang="en-US" sz="1000" dirty="0"/>
          </a:p>
        </p:txBody>
      </p:sp>
      <p:sp>
        <p:nvSpPr>
          <p:cNvPr id="12" name="Text 10"/>
          <p:cNvSpPr/>
          <p:nvPr/>
        </p:nvSpPr>
        <p:spPr>
          <a:xfrm>
            <a:off x="365760" y="3794760"/>
            <a:ext cx="1828800" cy="274320"/>
          </a:xfrm>
          <a:prstGeom prst="rect">
            <a:avLst/>
          </a:prstGeom>
          <a:noFill/>
          <a:ln/>
        </p:spPr>
        <p:txBody>
          <a:bodyPr wrap="square" rtlCol="0" anchor="ctr"/>
          <a:lstStyle/>
          <a:p>
            <a:pPr algn="ctr" indent="0" marL="0">
              <a:buNone/>
            </a:pPr>
            <a:r>
              <a:rPr lang="en-US" sz="1000" b="1" dirty="0">
                <a:solidFill>
                  <a:srgbClr val="C62828"/>
                </a:solidFill>
              </a:rPr>
              <a:t>✅ TARGET MET</a:t>
            </a:r>
            <a:endParaRPr lang="en-US" sz="1000" dirty="0"/>
          </a:p>
        </p:txBody>
      </p:sp>
      <p:sp>
        <p:nvSpPr>
          <p:cNvPr id="13" name="Shape 11"/>
          <p:cNvSpPr/>
          <p:nvPr/>
        </p:nvSpPr>
        <p:spPr>
          <a:xfrm>
            <a:off x="2450592" y="1143000"/>
            <a:ext cx="2011680" cy="3749040"/>
          </a:xfrm>
          <a:prstGeom prst="rect">
            <a:avLst/>
          </a:prstGeom>
          <a:solidFill>
            <a:srgbClr val="E8F5E9"/>
          </a:solidFill>
          <a:ln w="19050">
            <a:solidFill>
              <a:srgbClr val="2E7D32"/>
            </a:solidFill>
            <a:prstDash val="solid"/>
          </a:ln>
          <a:effectLst>
            <a:outerShdw sx="100000" sy="100000" kx="0" ky="0" algn="bl" rotWithShape="0" blurRad="101600" dist="38100" dir="8100000">
              <a:srgbClr val="000000">
                <a:alpha val="12000"/>
              </a:srgbClr>
            </a:outerShdw>
          </a:effectLst>
        </p:spPr>
      </p:sp>
      <p:sp>
        <p:nvSpPr>
          <p:cNvPr id="14" name="Text 12"/>
          <p:cNvSpPr/>
          <p:nvPr/>
        </p:nvSpPr>
        <p:spPr>
          <a:xfrm>
            <a:off x="2450592" y="1234440"/>
            <a:ext cx="2011680"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5" name="Text 13"/>
          <p:cNvSpPr/>
          <p:nvPr/>
        </p:nvSpPr>
        <p:spPr>
          <a:xfrm>
            <a:off x="2542032" y="1783080"/>
            <a:ext cx="1828800" cy="594360"/>
          </a:xfrm>
          <a:prstGeom prst="rect">
            <a:avLst/>
          </a:prstGeom>
          <a:noFill/>
          <a:ln/>
        </p:spPr>
        <p:txBody>
          <a:bodyPr wrap="square" rtlCol="0" anchor="ctr"/>
          <a:lstStyle/>
          <a:p>
            <a:pPr algn="ctr" indent="0" marL="0">
              <a:buNone/>
            </a:pPr>
            <a:r>
              <a:rPr lang="en-US" sz="1300" b="1" dirty="0">
                <a:solidFill>
                  <a:srgbClr val="263238"/>
                </a:solidFill>
              </a:rPr>
              <a:t>Price</a:t>
            </a:r>
            <a:endParaRPr lang="en-US" sz="1300" dirty="0"/>
          </a:p>
          <a:p>
            <a:pPr algn="ctr" indent="0" marL="0">
              <a:buNone/>
            </a:pPr>
            <a:r>
              <a:rPr lang="en-US" sz="1300" b="1" dirty="0">
                <a:solidFill>
                  <a:srgbClr val="263238"/>
                </a:solidFill>
              </a:rPr>
              <a:t>Forecasting</a:t>
            </a:r>
            <a:endParaRPr lang="en-US" sz="1300" dirty="0"/>
          </a:p>
        </p:txBody>
      </p:sp>
      <p:sp>
        <p:nvSpPr>
          <p:cNvPr id="16" name="Shape 14"/>
          <p:cNvSpPr/>
          <p:nvPr/>
        </p:nvSpPr>
        <p:spPr>
          <a:xfrm>
            <a:off x="2542032" y="2395728"/>
            <a:ext cx="1828800" cy="36576"/>
          </a:xfrm>
          <a:prstGeom prst="rect">
            <a:avLst/>
          </a:prstGeom>
          <a:solidFill>
            <a:srgbClr val="2E7D32"/>
          </a:solidFill>
          <a:ln w="12700">
            <a:solidFill>
              <a:srgbClr val="2E7D32"/>
            </a:solidFill>
            <a:prstDash val="solid"/>
          </a:ln>
        </p:spPr>
      </p:sp>
      <p:sp>
        <p:nvSpPr>
          <p:cNvPr id="17" name="Text 15"/>
          <p:cNvSpPr/>
          <p:nvPr/>
        </p:nvSpPr>
        <p:spPr>
          <a:xfrm>
            <a:off x="2523744" y="2487168"/>
            <a:ext cx="1874520" cy="640080"/>
          </a:xfrm>
          <a:prstGeom prst="rect">
            <a:avLst/>
          </a:prstGeom>
          <a:noFill/>
          <a:ln/>
        </p:spPr>
        <p:txBody>
          <a:bodyPr wrap="square" rtlCol="0" anchor="ctr"/>
          <a:lstStyle/>
          <a:p>
            <a:pPr algn="ctr" indent="0" marL="0">
              <a:lnSpc>
                <a:spcPct val="130000"/>
              </a:lnSpc>
              <a:buNone/>
            </a:pPr>
            <a:r>
              <a:rPr lang="en-US" sz="1050" dirty="0">
                <a:solidFill>
                  <a:srgbClr val="546E7A"/>
                </a:solidFill>
              </a:rPr>
              <a:t>How will food prices</a:t>
            </a:r>
            <a:endParaRPr lang="en-US" sz="1050" dirty="0"/>
          </a:p>
          <a:p>
            <a:pPr algn="ctr" indent="0" marL="0">
              <a:lnSpc>
                <a:spcPct val="130000"/>
              </a:lnSpc>
              <a:buNone/>
            </a:pPr>
            <a:r>
              <a:rPr lang="en-US" sz="1050" dirty="0">
                <a:solidFill>
                  <a:srgbClr val="546E7A"/>
                </a:solidFill>
              </a:rPr>
              <a:t>change in 8 months?</a:t>
            </a:r>
            <a:endParaRPr lang="en-US" sz="1050" dirty="0"/>
          </a:p>
        </p:txBody>
      </p:sp>
      <p:sp>
        <p:nvSpPr>
          <p:cNvPr id="18" name="Shape 16"/>
          <p:cNvSpPr/>
          <p:nvPr/>
        </p:nvSpPr>
        <p:spPr>
          <a:xfrm>
            <a:off x="2542032" y="3200400"/>
            <a:ext cx="1828800" cy="502920"/>
          </a:xfrm>
          <a:prstGeom prst="rect">
            <a:avLst/>
          </a:prstGeom>
          <a:solidFill>
            <a:srgbClr val="2E7D32"/>
          </a:solidFill>
          <a:ln w="12700">
            <a:solidFill>
              <a:srgbClr val="2E7D32"/>
            </a:solidFill>
            <a:prstDash val="solid"/>
          </a:ln>
        </p:spPr>
      </p:sp>
      <p:sp>
        <p:nvSpPr>
          <p:cNvPr id="19" name="Text 17"/>
          <p:cNvSpPr/>
          <p:nvPr/>
        </p:nvSpPr>
        <p:spPr>
          <a:xfrm>
            <a:off x="2542032" y="3218688"/>
            <a:ext cx="1828800" cy="228600"/>
          </a:xfrm>
          <a:prstGeom prst="rect">
            <a:avLst/>
          </a:prstGeom>
          <a:noFill/>
          <a:ln/>
        </p:spPr>
        <p:txBody>
          <a:bodyPr wrap="square" rtlCol="0" anchor="ctr"/>
          <a:lstStyle/>
          <a:p>
            <a:pPr algn="ctr" indent="0" marL="0">
              <a:buNone/>
            </a:pPr>
            <a:r>
              <a:rPr lang="en-US" sz="1000" b="1" dirty="0">
                <a:solidFill>
                  <a:srgbClr val="FFFFFF"/>
                </a:solidFill>
              </a:rPr>
              <a:t>Prophet</a:t>
            </a:r>
            <a:endParaRPr lang="en-US" sz="1000" dirty="0"/>
          </a:p>
        </p:txBody>
      </p:sp>
      <p:sp>
        <p:nvSpPr>
          <p:cNvPr id="20" name="Text 18"/>
          <p:cNvSpPr/>
          <p:nvPr/>
        </p:nvSpPr>
        <p:spPr>
          <a:xfrm>
            <a:off x="2542032" y="3447288"/>
            <a:ext cx="1828800" cy="228600"/>
          </a:xfrm>
          <a:prstGeom prst="rect">
            <a:avLst/>
          </a:prstGeom>
          <a:noFill/>
          <a:ln/>
        </p:spPr>
        <p:txBody>
          <a:bodyPr wrap="square" rtlCol="0" anchor="ctr"/>
          <a:lstStyle/>
          <a:p>
            <a:pPr algn="ctr" indent="0" marL="0">
              <a:buNone/>
            </a:pPr>
            <a:r>
              <a:rPr lang="en-US" sz="1000" dirty="0">
                <a:solidFill>
                  <a:srgbClr val="FFFFFF"/>
                </a:solidFill>
              </a:rPr>
              <a:t>MAPE = 0.81%</a:t>
            </a:r>
            <a:endParaRPr lang="en-US" sz="1000" dirty="0"/>
          </a:p>
        </p:txBody>
      </p:sp>
      <p:sp>
        <p:nvSpPr>
          <p:cNvPr id="21" name="Text 19"/>
          <p:cNvSpPr/>
          <p:nvPr/>
        </p:nvSpPr>
        <p:spPr>
          <a:xfrm>
            <a:off x="2542032" y="3794760"/>
            <a:ext cx="1828800" cy="274320"/>
          </a:xfrm>
          <a:prstGeom prst="rect">
            <a:avLst/>
          </a:prstGeom>
          <a:noFill/>
          <a:ln/>
        </p:spPr>
        <p:txBody>
          <a:bodyPr wrap="square" rtlCol="0" anchor="ctr"/>
          <a:lstStyle/>
          <a:p>
            <a:pPr algn="ctr" indent="0" marL="0">
              <a:buNone/>
            </a:pPr>
            <a:r>
              <a:rPr lang="en-US" sz="1000" b="1" dirty="0">
                <a:solidFill>
                  <a:srgbClr val="2E7D32"/>
                </a:solidFill>
              </a:rPr>
              <a:t>✅ TARGET MET</a:t>
            </a:r>
            <a:endParaRPr lang="en-US" sz="1000" dirty="0"/>
          </a:p>
        </p:txBody>
      </p:sp>
      <p:sp>
        <p:nvSpPr>
          <p:cNvPr id="22" name="Shape 20"/>
          <p:cNvSpPr/>
          <p:nvPr/>
        </p:nvSpPr>
        <p:spPr>
          <a:xfrm>
            <a:off x="4626864" y="1143000"/>
            <a:ext cx="2011680" cy="3749040"/>
          </a:xfrm>
          <a:prstGeom prst="rect">
            <a:avLst/>
          </a:prstGeom>
          <a:solidFill>
            <a:srgbClr val="E3F2FD"/>
          </a:solidFill>
          <a:ln w="19050">
            <a:solidFill>
              <a:srgbClr val="1565C0"/>
            </a:solidFill>
            <a:prstDash val="solid"/>
          </a:ln>
          <a:effectLst>
            <a:outerShdw sx="100000" sy="100000" kx="0" ky="0" algn="bl" rotWithShape="0" blurRad="101600" dist="38100" dir="8100000">
              <a:srgbClr val="000000">
                <a:alpha val="12000"/>
              </a:srgbClr>
            </a:outerShdw>
          </a:effectLst>
        </p:spPr>
      </p:sp>
      <p:sp>
        <p:nvSpPr>
          <p:cNvPr id="23" name="Text 21"/>
          <p:cNvSpPr/>
          <p:nvPr/>
        </p:nvSpPr>
        <p:spPr>
          <a:xfrm>
            <a:off x="4626864" y="1234440"/>
            <a:ext cx="2011680"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24" name="Text 22"/>
          <p:cNvSpPr/>
          <p:nvPr/>
        </p:nvSpPr>
        <p:spPr>
          <a:xfrm>
            <a:off x="4718304" y="1783080"/>
            <a:ext cx="1828800" cy="594360"/>
          </a:xfrm>
          <a:prstGeom prst="rect">
            <a:avLst/>
          </a:prstGeom>
          <a:noFill/>
          <a:ln/>
        </p:spPr>
        <p:txBody>
          <a:bodyPr wrap="square" rtlCol="0" anchor="ctr"/>
          <a:lstStyle/>
          <a:p>
            <a:pPr algn="ctr" indent="0" marL="0">
              <a:buNone/>
            </a:pPr>
            <a:r>
              <a:rPr lang="en-US" sz="1300" b="1" dirty="0">
                <a:solidFill>
                  <a:srgbClr val="263238"/>
                </a:solidFill>
              </a:rPr>
              <a:t>Crop &amp; Market</a:t>
            </a:r>
            <a:endParaRPr lang="en-US" sz="1300" dirty="0"/>
          </a:p>
          <a:p>
            <a:pPr algn="ctr" indent="0" marL="0">
              <a:buNone/>
            </a:pPr>
            <a:r>
              <a:rPr lang="en-US" sz="1300" b="1" dirty="0">
                <a:solidFill>
                  <a:srgbClr val="263238"/>
                </a:solidFill>
              </a:rPr>
              <a:t>Recommendation</a:t>
            </a:r>
            <a:endParaRPr lang="en-US" sz="1300" dirty="0"/>
          </a:p>
        </p:txBody>
      </p:sp>
      <p:sp>
        <p:nvSpPr>
          <p:cNvPr id="25" name="Shape 23"/>
          <p:cNvSpPr/>
          <p:nvPr/>
        </p:nvSpPr>
        <p:spPr>
          <a:xfrm>
            <a:off x="4718304" y="2395728"/>
            <a:ext cx="1828800" cy="36576"/>
          </a:xfrm>
          <a:prstGeom prst="rect">
            <a:avLst/>
          </a:prstGeom>
          <a:solidFill>
            <a:srgbClr val="1565C0"/>
          </a:solidFill>
          <a:ln w="12700">
            <a:solidFill>
              <a:srgbClr val="1565C0"/>
            </a:solidFill>
            <a:prstDash val="solid"/>
          </a:ln>
        </p:spPr>
      </p:sp>
      <p:sp>
        <p:nvSpPr>
          <p:cNvPr id="26" name="Text 24"/>
          <p:cNvSpPr/>
          <p:nvPr/>
        </p:nvSpPr>
        <p:spPr>
          <a:xfrm>
            <a:off x="4700016" y="2487168"/>
            <a:ext cx="1874520" cy="640080"/>
          </a:xfrm>
          <a:prstGeom prst="rect">
            <a:avLst/>
          </a:prstGeom>
          <a:noFill/>
          <a:ln/>
        </p:spPr>
        <p:txBody>
          <a:bodyPr wrap="square" rtlCol="0" anchor="ctr"/>
          <a:lstStyle/>
          <a:p>
            <a:pPr algn="ctr" indent="0" marL="0">
              <a:lnSpc>
                <a:spcPct val="130000"/>
              </a:lnSpc>
              <a:buNone/>
            </a:pPr>
            <a:r>
              <a:rPr lang="en-US" sz="1050" dirty="0">
                <a:solidFill>
                  <a:srgbClr val="546E7A"/>
                </a:solidFill>
              </a:rPr>
              <a:t>What should I plant</a:t>
            </a:r>
            <a:endParaRPr lang="en-US" sz="1050" dirty="0"/>
          </a:p>
          <a:p>
            <a:pPr algn="ctr" indent="0" marL="0">
              <a:lnSpc>
                <a:spcPct val="130000"/>
              </a:lnSpc>
              <a:buNone/>
            </a:pPr>
            <a:r>
              <a:rPr lang="en-US" sz="1050" dirty="0">
                <a:solidFill>
                  <a:srgbClr val="546E7A"/>
                </a:solidFill>
              </a:rPr>
              <a:t>and where to sell?</a:t>
            </a:r>
            <a:endParaRPr lang="en-US" sz="1050" dirty="0"/>
          </a:p>
        </p:txBody>
      </p:sp>
      <p:sp>
        <p:nvSpPr>
          <p:cNvPr id="27" name="Shape 25"/>
          <p:cNvSpPr/>
          <p:nvPr/>
        </p:nvSpPr>
        <p:spPr>
          <a:xfrm>
            <a:off x="4718304" y="3200400"/>
            <a:ext cx="1828800" cy="502920"/>
          </a:xfrm>
          <a:prstGeom prst="rect">
            <a:avLst/>
          </a:prstGeom>
          <a:solidFill>
            <a:srgbClr val="1565C0"/>
          </a:solidFill>
          <a:ln w="12700">
            <a:solidFill>
              <a:srgbClr val="1565C0"/>
            </a:solidFill>
            <a:prstDash val="solid"/>
          </a:ln>
        </p:spPr>
      </p:sp>
      <p:sp>
        <p:nvSpPr>
          <p:cNvPr id="28" name="Text 26"/>
          <p:cNvSpPr/>
          <p:nvPr/>
        </p:nvSpPr>
        <p:spPr>
          <a:xfrm>
            <a:off x="4718304" y="3218688"/>
            <a:ext cx="1828800" cy="228600"/>
          </a:xfrm>
          <a:prstGeom prst="rect">
            <a:avLst/>
          </a:prstGeom>
          <a:noFill/>
          <a:ln/>
        </p:spPr>
        <p:txBody>
          <a:bodyPr wrap="square" rtlCol="0" anchor="ctr"/>
          <a:lstStyle/>
          <a:p>
            <a:pPr algn="ctr" indent="0" marL="0">
              <a:buNone/>
            </a:pPr>
            <a:r>
              <a:rPr lang="en-US" sz="1000" b="1" dirty="0">
                <a:solidFill>
                  <a:srgbClr val="FFFFFF"/>
                </a:solidFill>
              </a:rPr>
              <a:t>NASA + WFP</a:t>
            </a:r>
            <a:endParaRPr lang="en-US" sz="1000" dirty="0"/>
          </a:p>
        </p:txBody>
      </p:sp>
      <p:sp>
        <p:nvSpPr>
          <p:cNvPr id="29" name="Text 27"/>
          <p:cNvSpPr/>
          <p:nvPr/>
        </p:nvSpPr>
        <p:spPr>
          <a:xfrm>
            <a:off x="4718304" y="3447288"/>
            <a:ext cx="1828800" cy="228600"/>
          </a:xfrm>
          <a:prstGeom prst="rect">
            <a:avLst/>
          </a:prstGeom>
          <a:noFill/>
          <a:ln/>
        </p:spPr>
        <p:txBody>
          <a:bodyPr wrap="square" rtlCol="0" anchor="ctr"/>
          <a:lstStyle/>
          <a:p>
            <a:pPr algn="ctr" indent="0" marL="0">
              <a:buNone/>
            </a:pPr>
            <a:r>
              <a:rPr lang="en-US" sz="1000" dirty="0">
                <a:solidFill>
                  <a:srgbClr val="FFFFFF"/>
                </a:solidFill>
              </a:rPr>
              <a:t>226 markets</a:t>
            </a:r>
            <a:endParaRPr lang="en-US" sz="1000" dirty="0"/>
          </a:p>
        </p:txBody>
      </p:sp>
      <p:sp>
        <p:nvSpPr>
          <p:cNvPr id="30" name="Text 28"/>
          <p:cNvSpPr/>
          <p:nvPr/>
        </p:nvSpPr>
        <p:spPr>
          <a:xfrm>
            <a:off x="4718304" y="3794760"/>
            <a:ext cx="1828800" cy="274320"/>
          </a:xfrm>
          <a:prstGeom prst="rect">
            <a:avLst/>
          </a:prstGeom>
          <a:noFill/>
          <a:ln/>
        </p:spPr>
        <p:txBody>
          <a:bodyPr wrap="square" rtlCol="0" anchor="ctr"/>
          <a:lstStyle/>
          <a:p>
            <a:pPr algn="ctr" indent="0" marL="0">
              <a:buNone/>
            </a:pPr>
            <a:r>
              <a:rPr lang="en-US" sz="1000" b="1" dirty="0">
                <a:solidFill>
                  <a:srgbClr val="1565C0"/>
                </a:solidFill>
              </a:rPr>
              <a:t>✅ TARGET MET</a:t>
            </a:r>
            <a:endParaRPr lang="en-US" sz="1000" dirty="0"/>
          </a:p>
        </p:txBody>
      </p:sp>
      <p:sp>
        <p:nvSpPr>
          <p:cNvPr id="31" name="Shape 29"/>
          <p:cNvSpPr/>
          <p:nvPr/>
        </p:nvSpPr>
        <p:spPr>
          <a:xfrm>
            <a:off x="6803136" y="1143000"/>
            <a:ext cx="2011680" cy="3749040"/>
          </a:xfrm>
          <a:prstGeom prst="rect">
            <a:avLst/>
          </a:prstGeom>
          <a:solidFill>
            <a:srgbClr val="FFF8E1"/>
          </a:solidFill>
          <a:ln w="19050">
            <a:solidFill>
              <a:srgbClr val="F9A825"/>
            </a:solidFill>
            <a:prstDash val="solid"/>
          </a:ln>
          <a:effectLst>
            <a:outerShdw sx="100000" sy="100000" kx="0" ky="0" algn="bl" rotWithShape="0" blurRad="101600" dist="38100" dir="8100000">
              <a:srgbClr val="000000">
                <a:alpha val="12000"/>
              </a:srgbClr>
            </a:outerShdw>
          </a:effectLst>
        </p:spPr>
      </p:sp>
      <p:sp>
        <p:nvSpPr>
          <p:cNvPr id="32" name="Text 30"/>
          <p:cNvSpPr/>
          <p:nvPr/>
        </p:nvSpPr>
        <p:spPr>
          <a:xfrm>
            <a:off x="6803136" y="1234440"/>
            <a:ext cx="2011680"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33" name="Text 31"/>
          <p:cNvSpPr/>
          <p:nvPr/>
        </p:nvSpPr>
        <p:spPr>
          <a:xfrm>
            <a:off x="6894576" y="1783080"/>
            <a:ext cx="1828800" cy="594360"/>
          </a:xfrm>
          <a:prstGeom prst="rect">
            <a:avLst/>
          </a:prstGeom>
          <a:noFill/>
          <a:ln/>
        </p:spPr>
        <p:txBody>
          <a:bodyPr wrap="square" rtlCol="0" anchor="ctr"/>
          <a:lstStyle/>
          <a:p>
            <a:pPr algn="ctr" indent="0" marL="0">
              <a:buNone/>
            </a:pPr>
            <a:r>
              <a:rPr lang="en-US" sz="1300" b="1" dirty="0">
                <a:solidFill>
                  <a:srgbClr val="263238"/>
                </a:solidFill>
              </a:rPr>
              <a:t>NLP Sentiment</a:t>
            </a:r>
            <a:endParaRPr lang="en-US" sz="1300" dirty="0"/>
          </a:p>
          <a:p>
            <a:pPr algn="ctr" indent="0" marL="0">
              <a:buNone/>
            </a:pPr>
            <a:r>
              <a:rPr lang="en-US" sz="1300" b="1" dirty="0">
                <a:solidFill>
                  <a:srgbClr val="263238"/>
                </a:solidFill>
              </a:rPr>
              <a:t>Analysis</a:t>
            </a:r>
            <a:endParaRPr lang="en-US" sz="1300" dirty="0"/>
          </a:p>
        </p:txBody>
      </p:sp>
      <p:sp>
        <p:nvSpPr>
          <p:cNvPr id="34" name="Shape 32"/>
          <p:cNvSpPr/>
          <p:nvPr/>
        </p:nvSpPr>
        <p:spPr>
          <a:xfrm>
            <a:off x="6894576" y="2395728"/>
            <a:ext cx="1828800" cy="36576"/>
          </a:xfrm>
          <a:prstGeom prst="rect">
            <a:avLst/>
          </a:prstGeom>
          <a:solidFill>
            <a:srgbClr val="F9A825"/>
          </a:solidFill>
          <a:ln w="12700">
            <a:solidFill>
              <a:srgbClr val="F9A825"/>
            </a:solidFill>
            <a:prstDash val="solid"/>
          </a:ln>
        </p:spPr>
      </p:sp>
      <p:sp>
        <p:nvSpPr>
          <p:cNvPr id="35" name="Text 33"/>
          <p:cNvSpPr/>
          <p:nvPr/>
        </p:nvSpPr>
        <p:spPr>
          <a:xfrm>
            <a:off x="6876288" y="2487168"/>
            <a:ext cx="1874520" cy="640080"/>
          </a:xfrm>
          <a:prstGeom prst="rect">
            <a:avLst/>
          </a:prstGeom>
          <a:noFill/>
          <a:ln/>
        </p:spPr>
        <p:txBody>
          <a:bodyPr wrap="square" rtlCol="0" anchor="ctr"/>
          <a:lstStyle/>
          <a:p>
            <a:pPr algn="ctr" indent="0" marL="0">
              <a:lnSpc>
                <a:spcPct val="130000"/>
              </a:lnSpc>
              <a:buNone/>
            </a:pPr>
            <a:r>
              <a:rPr lang="en-US" sz="1050" dirty="0">
                <a:solidFill>
                  <a:srgbClr val="546E7A"/>
                </a:solidFill>
              </a:rPr>
              <a:t>What are farmers</a:t>
            </a:r>
            <a:endParaRPr lang="en-US" sz="1050" dirty="0"/>
          </a:p>
          <a:p>
            <a:pPr algn="ctr" indent="0" marL="0">
              <a:lnSpc>
                <a:spcPct val="130000"/>
              </a:lnSpc>
              <a:buNone/>
            </a:pPr>
            <a:r>
              <a:rPr lang="en-US" sz="1050" dirty="0">
                <a:solidFill>
                  <a:srgbClr val="546E7A"/>
                </a:solidFill>
              </a:rPr>
              <a:t>reading and feeling?</a:t>
            </a:r>
            <a:endParaRPr lang="en-US" sz="1050" dirty="0"/>
          </a:p>
        </p:txBody>
      </p:sp>
      <p:sp>
        <p:nvSpPr>
          <p:cNvPr id="36" name="Shape 34"/>
          <p:cNvSpPr/>
          <p:nvPr/>
        </p:nvSpPr>
        <p:spPr>
          <a:xfrm>
            <a:off x="6894576" y="3200400"/>
            <a:ext cx="1828800" cy="502920"/>
          </a:xfrm>
          <a:prstGeom prst="rect">
            <a:avLst/>
          </a:prstGeom>
          <a:solidFill>
            <a:srgbClr val="F9A825"/>
          </a:solidFill>
          <a:ln w="12700">
            <a:solidFill>
              <a:srgbClr val="F9A825"/>
            </a:solidFill>
            <a:prstDash val="solid"/>
          </a:ln>
        </p:spPr>
      </p:sp>
      <p:sp>
        <p:nvSpPr>
          <p:cNvPr id="37" name="Text 35"/>
          <p:cNvSpPr/>
          <p:nvPr/>
        </p:nvSpPr>
        <p:spPr>
          <a:xfrm>
            <a:off x="6894576" y="3218688"/>
            <a:ext cx="1828800" cy="228600"/>
          </a:xfrm>
          <a:prstGeom prst="rect">
            <a:avLst/>
          </a:prstGeom>
          <a:noFill/>
          <a:ln/>
        </p:spPr>
        <p:txBody>
          <a:bodyPr wrap="square" rtlCol="0" anchor="ctr"/>
          <a:lstStyle/>
          <a:p>
            <a:pPr algn="ctr" indent="0" marL="0">
              <a:buNone/>
            </a:pPr>
            <a:r>
              <a:rPr lang="en-US" sz="1000" b="1" dirty="0">
                <a:solidFill>
                  <a:srgbClr val="FFFFFF"/>
                </a:solidFill>
              </a:rPr>
              <a:t>VADER</a:t>
            </a:r>
            <a:endParaRPr lang="en-US" sz="1000" dirty="0"/>
          </a:p>
        </p:txBody>
      </p:sp>
      <p:sp>
        <p:nvSpPr>
          <p:cNvPr id="38" name="Text 36"/>
          <p:cNvSpPr/>
          <p:nvPr/>
        </p:nvSpPr>
        <p:spPr>
          <a:xfrm>
            <a:off x="6894576" y="3447288"/>
            <a:ext cx="1828800" cy="228600"/>
          </a:xfrm>
          <a:prstGeom prst="rect">
            <a:avLst/>
          </a:prstGeom>
          <a:noFill/>
          <a:ln/>
        </p:spPr>
        <p:txBody>
          <a:bodyPr wrap="square" rtlCol="0" anchor="ctr"/>
          <a:lstStyle/>
          <a:p>
            <a:pPr algn="ctr" indent="0" marL="0">
              <a:buNone/>
            </a:pPr>
            <a:r>
              <a:rPr lang="en-US" sz="1000" dirty="0">
                <a:solidFill>
                  <a:srgbClr val="FFFFFF"/>
                </a:solidFill>
              </a:rPr>
              <a:t>47.3% positive</a:t>
            </a:r>
            <a:endParaRPr lang="en-US" sz="1000" dirty="0"/>
          </a:p>
        </p:txBody>
      </p:sp>
      <p:sp>
        <p:nvSpPr>
          <p:cNvPr id="39" name="Text 37"/>
          <p:cNvSpPr/>
          <p:nvPr/>
        </p:nvSpPr>
        <p:spPr>
          <a:xfrm>
            <a:off x="6894576" y="3794760"/>
            <a:ext cx="1828800" cy="274320"/>
          </a:xfrm>
          <a:prstGeom prst="rect">
            <a:avLst/>
          </a:prstGeom>
          <a:noFill/>
          <a:ln/>
        </p:spPr>
        <p:txBody>
          <a:bodyPr wrap="square" rtlCol="0" anchor="ctr"/>
          <a:lstStyle/>
          <a:p>
            <a:pPr algn="ctr" indent="0" marL="0">
              <a:buNone/>
            </a:pPr>
            <a:r>
              <a:rPr lang="en-US" sz="1000" b="1" dirty="0">
                <a:solidFill>
                  <a:srgbClr val="F9A825"/>
                </a:solidFill>
              </a:rPr>
              <a:t>✅ TARGET MET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5E20"/>
          </a:solidFill>
          <a:ln w="12700">
            <a:solidFill>
              <a:srgbClr val="1B5E20"/>
            </a:solidFill>
            <a:prstDash val="solid"/>
          </a:ln>
        </p:spPr>
      </p:sp>
      <p:sp>
        <p:nvSpPr>
          <p:cNvPr id="3" name="Text 1"/>
          <p:cNvSpPr/>
          <p:nvPr/>
        </p:nvSpPr>
        <p:spPr>
          <a:xfrm>
            <a:off x="274320" y="137160"/>
            <a:ext cx="8595360" cy="731520"/>
          </a:xfrm>
          <a:prstGeom prst="rect">
            <a:avLst/>
          </a:prstGeom>
          <a:noFill/>
          <a:ln/>
        </p:spPr>
        <p:txBody>
          <a:bodyPr wrap="square" rtlCol="0" anchor="ctr"/>
          <a:lstStyle/>
          <a:p>
            <a:pPr indent="0" marL="0">
              <a:buNone/>
            </a:pPr>
            <a:r>
              <a:rPr lang="en-US" sz="2800" b="1" dirty="0">
                <a:solidFill>
                  <a:srgbClr val="FFFFFF"/>
                </a:solidFill>
              </a:rPr>
              <a:t>📦  Raw Data — 5 Datasets, All Non-Curated</a:t>
            </a:r>
            <a:endParaRPr lang="en-US" sz="2800" dirty="0"/>
          </a:p>
        </p:txBody>
      </p:sp>
      <p:sp>
        <p:nvSpPr>
          <p:cNvPr id="4" name="Shape 2"/>
          <p:cNvSpPr/>
          <p:nvPr/>
        </p:nvSpPr>
        <p:spPr>
          <a:xfrm>
            <a:off x="274320" y="1097280"/>
            <a:ext cx="8595360" cy="713232"/>
          </a:xfrm>
          <a:prstGeom prst="rect">
            <a:avLst/>
          </a:prstGeom>
          <a:solidFill>
            <a:srgbClr val="F9FBF7"/>
          </a:solidFill>
          <a:ln w="12700">
            <a:solidFill>
              <a:srgbClr val="DCEDC8"/>
            </a:solidFill>
            <a:prstDash val="solid"/>
          </a:ln>
        </p:spPr>
      </p:sp>
      <p:sp>
        <p:nvSpPr>
          <p:cNvPr id="5" name="Text 3"/>
          <p:cNvSpPr/>
          <p:nvPr/>
        </p:nvSpPr>
        <p:spPr>
          <a:xfrm>
            <a:off x="365760" y="1207008"/>
            <a:ext cx="548640" cy="45720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6" name="Text 4"/>
          <p:cNvSpPr/>
          <p:nvPr/>
        </p:nvSpPr>
        <p:spPr>
          <a:xfrm>
            <a:off x="1005840" y="1152144"/>
            <a:ext cx="2194560" cy="320040"/>
          </a:xfrm>
          <a:prstGeom prst="rect">
            <a:avLst/>
          </a:prstGeom>
          <a:noFill/>
          <a:ln/>
        </p:spPr>
        <p:txBody>
          <a:bodyPr wrap="square" rtlCol="0" anchor="ctr"/>
          <a:lstStyle/>
          <a:p>
            <a:pPr indent="0" marL="0">
              <a:buNone/>
            </a:pPr>
            <a:r>
              <a:rPr lang="en-US" sz="1300" b="1" dirty="0">
                <a:solidFill>
                  <a:srgbClr val="263238"/>
                </a:solidFill>
              </a:rPr>
              <a:t>NASA POWER Weather</a:t>
            </a:r>
            <a:endParaRPr lang="en-US" sz="1300" dirty="0"/>
          </a:p>
        </p:txBody>
      </p:sp>
      <p:sp>
        <p:nvSpPr>
          <p:cNvPr id="7" name="Text 5"/>
          <p:cNvSpPr/>
          <p:nvPr/>
        </p:nvSpPr>
        <p:spPr>
          <a:xfrm>
            <a:off x="1005840" y="1481328"/>
            <a:ext cx="1371600" cy="256032"/>
          </a:xfrm>
          <a:prstGeom prst="rect">
            <a:avLst/>
          </a:prstGeom>
          <a:noFill/>
          <a:ln/>
        </p:spPr>
        <p:txBody>
          <a:bodyPr wrap="square" rtlCol="0" anchor="ctr"/>
          <a:lstStyle/>
          <a:p>
            <a:pPr indent="0" marL="0">
              <a:buNone/>
            </a:pPr>
            <a:r>
              <a:rPr lang="en-US" sz="1050" b="1" dirty="0">
                <a:solidFill>
                  <a:srgbClr val="2E7D32"/>
                </a:solidFill>
              </a:rPr>
              <a:t>409,811 rows</a:t>
            </a:r>
            <a:endParaRPr lang="en-US" sz="1050" dirty="0"/>
          </a:p>
        </p:txBody>
      </p:sp>
      <p:sp>
        <p:nvSpPr>
          <p:cNvPr id="8" name="Text 6"/>
          <p:cNvSpPr/>
          <p:nvPr/>
        </p:nvSpPr>
        <p:spPr>
          <a:xfrm>
            <a:off x="2468880" y="1481328"/>
            <a:ext cx="1097280" cy="256032"/>
          </a:xfrm>
          <a:prstGeom prst="rect">
            <a:avLst/>
          </a:prstGeom>
          <a:noFill/>
          <a:ln/>
        </p:spPr>
        <p:txBody>
          <a:bodyPr wrap="square" rtlCol="0" anchor="ctr"/>
          <a:lstStyle/>
          <a:p>
            <a:pPr indent="0" marL="0">
              <a:buNone/>
            </a:pPr>
            <a:r>
              <a:rPr lang="en-US" sz="1050" dirty="0">
                <a:solidFill>
                  <a:srgbClr val="546E7A"/>
                </a:solidFill>
              </a:rPr>
              <a:t>2000–2023</a:t>
            </a:r>
            <a:endParaRPr lang="en-US" sz="1050" dirty="0"/>
          </a:p>
        </p:txBody>
      </p:sp>
      <p:sp>
        <p:nvSpPr>
          <p:cNvPr id="9" name="Text 7"/>
          <p:cNvSpPr/>
          <p:nvPr/>
        </p:nvSpPr>
        <p:spPr>
          <a:xfrm>
            <a:off x="3291840" y="1188720"/>
            <a:ext cx="5486400" cy="502920"/>
          </a:xfrm>
          <a:prstGeom prst="rect">
            <a:avLst/>
          </a:prstGeom>
          <a:noFill/>
          <a:ln/>
        </p:spPr>
        <p:txBody>
          <a:bodyPr wrap="square" rtlCol="0" anchor="ctr"/>
          <a:lstStyle/>
          <a:p>
            <a:pPr indent="0" marL="0">
              <a:lnSpc>
                <a:spcPct val="120000"/>
              </a:lnSpc>
              <a:buNone/>
            </a:pPr>
            <a:r>
              <a:rPr lang="en-US" sz="1100" dirty="0">
                <a:solidFill>
                  <a:srgbClr val="546E7A"/>
                </a:solidFill>
              </a:rPr>
              <a:t>Daily weather for all 47 counties — temperature, rainfall, humidity, solar radiation. The primary ML signal.</a:t>
            </a:r>
            <a:endParaRPr lang="en-US" sz="1100" dirty="0"/>
          </a:p>
        </p:txBody>
      </p:sp>
      <p:sp>
        <p:nvSpPr>
          <p:cNvPr id="10" name="Shape 8"/>
          <p:cNvSpPr/>
          <p:nvPr/>
        </p:nvSpPr>
        <p:spPr>
          <a:xfrm>
            <a:off x="274320" y="1883664"/>
            <a:ext cx="8595360" cy="713232"/>
          </a:xfrm>
          <a:prstGeom prst="rect">
            <a:avLst/>
          </a:prstGeom>
          <a:solidFill>
            <a:srgbClr val="FFFFFF"/>
          </a:solidFill>
          <a:ln w="12700">
            <a:solidFill>
              <a:srgbClr val="DCEDC8"/>
            </a:solidFill>
            <a:prstDash val="solid"/>
          </a:ln>
        </p:spPr>
      </p:sp>
      <p:sp>
        <p:nvSpPr>
          <p:cNvPr id="11" name="Text 9"/>
          <p:cNvSpPr/>
          <p:nvPr/>
        </p:nvSpPr>
        <p:spPr>
          <a:xfrm>
            <a:off x="365760" y="1993392"/>
            <a:ext cx="548640" cy="45720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2" name="Text 10"/>
          <p:cNvSpPr/>
          <p:nvPr/>
        </p:nvSpPr>
        <p:spPr>
          <a:xfrm>
            <a:off x="1005840" y="1938528"/>
            <a:ext cx="2194560" cy="320040"/>
          </a:xfrm>
          <a:prstGeom prst="rect">
            <a:avLst/>
          </a:prstGeom>
          <a:noFill/>
          <a:ln/>
        </p:spPr>
        <p:txBody>
          <a:bodyPr wrap="square" rtlCol="0" anchor="ctr"/>
          <a:lstStyle/>
          <a:p>
            <a:pPr indent="0" marL="0">
              <a:buNone/>
            </a:pPr>
            <a:r>
              <a:rPr lang="en-US" sz="1300" b="1" dirty="0">
                <a:solidFill>
                  <a:srgbClr val="263238"/>
                </a:solidFill>
              </a:rPr>
              <a:t>FEWS NET IPC</a:t>
            </a:r>
            <a:endParaRPr lang="en-US" sz="1300" dirty="0"/>
          </a:p>
        </p:txBody>
      </p:sp>
      <p:sp>
        <p:nvSpPr>
          <p:cNvPr id="13" name="Text 11"/>
          <p:cNvSpPr/>
          <p:nvPr/>
        </p:nvSpPr>
        <p:spPr>
          <a:xfrm>
            <a:off x="1005840" y="2267712"/>
            <a:ext cx="1371600" cy="256032"/>
          </a:xfrm>
          <a:prstGeom prst="rect">
            <a:avLst/>
          </a:prstGeom>
          <a:noFill/>
          <a:ln/>
        </p:spPr>
        <p:txBody>
          <a:bodyPr wrap="square" rtlCol="0" anchor="ctr"/>
          <a:lstStyle/>
          <a:p>
            <a:pPr indent="0" marL="0">
              <a:buNone/>
            </a:pPr>
            <a:r>
              <a:rPr lang="en-US" sz="1050" b="1" dirty="0">
                <a:solidFill>
                  <a:srgbClr val="2E7D32"/>
                </a:solidFill>
              </a:rPr>
              <a:t>640 rows</a:t>
            </a:r>
            <a:endParaRPr lang="en-US" sz="1050" dirty="0"/>
          </a:p>
        </p:txBody>
      </p:sp>
      <p:sp>
        <p:nvSpPr>
          <p:cNvPr id="14" name="Text 12"/>
          <p:cNvSpPr/>
          <p:nvPr/>
        </p:nvSpPr>
        <p:spPr>
          <a:xfrm>
            <a:off x="2468880" y="2267712"/>
            <a:ext cx="1097280" cy="256032"/>
          </a:xfrm>
          <a:prstGeom prst="rect">
            <a:avLst/>
          </a:prstGeom>
          <a:noFill/>
          <a:ln/>
        </p:spPr>
        <p:txBody>
          <a:bodyPr wrap="square" rtlCol="0" anchor="ctr"/>
          <a:lstStyle/>
          <a:p>
            <a:pPr indent="0" marL="0">
              <a:buNone/>
            </a:pPr>
            <a:r>
              <a:rPr lang="en-US" sz="1050" dirty="0">
                <a:solidFill>
                  <a:srgbClr val="546E7A"/>
                </a:solidFill>
              </a:rPr>
              <a:t>Mar 2026</a:t>
            </a:r>
            <a:endParaRPr lang="en-US" sz="1050" dirty="0"/>
          </a:p>
        </p:txBody>
      </p:sp>
      <p:sp>
        <p:nvSpPr>
          <p:cNvPr id="15" name="Text 13"/>
          <p:cNvSpPr/>
          <p:nvPr/>
        </p:nvSpPr>
        <p:spPr>
          <a:xfrm>
            <a:off x="3291840" y="1975104"/>
            <a:ext cx="5486400" cy="502920"/>
          </a:xfrm>
          <a:prstGeom prst="rect">
            <a:avLst/>
          </a:prstGeom>
          <a:noFill/>
          <a:ln/>
        </p:spPr>
        <p:txBody>
          <a:bodyPr wrap="square" rtlCol="0" anchor="ctr"/>
          <a:lstStyle/>
          <a:p>
            <a:pPr indent="0" marL="0">
              <a:lnSpc>
                <a:spcPct val="120000"/>
              </a:lnSpc>
              <a:buNone/>
            </a:pPr>
            <a:r>
              <a:rPr lang="en-US" sz="1100" dirty="0">
                <a:solidFill>
                  <a:srgbClr val="546E7A"/>
                </a:solidFill>
              </a:rPr>
              <a:t>Ground truth labels for the classifier — food security phases 1 to 3 at sub-county level across Kenya.</a:t>
            </a:r>
            <a:endParaRPr lang="en-US" sz="1100" dirty="0"/>
          </a:p>
        </p:txBody>
      </p:sp>
      <p:sp>
        <p:nvSpPr>
          <p:cNvPr id="16" name="Shape 14"/>
          <p:cNvSpPr/>
          <p:nvPr/>
        </p:nvSpPr>
        <p:spPr>
          <a:xfrm>
            <a:off x="274320" y="2670048"/>
            <a:ext cx="8595360" cy="713232"/>
          </a:xfrm>
          <a:prstGeom prst="rect">
            <a:avLst/>
          </a:prstGeom>
          <a:solidFill>
            <a:srgbClr val="F9FBF7"/>
          </a:solidFill>
          <a:ln w="12700">
            <a:solidFill>
              <a:srgbClr val="DCEDC8"/>
            </a:solidFill>
            <a:prstDash val="solid"/>
          </a:ln>
        </p:spPr>
      </p:sp>
      <p:sp>
        <p:nvSpPr>
          <p:cNvPr id="17" name="Text 15"/>
          <p:cNvSpPr/>
          <p:nvPr/>
        </p:nvSpPr>
        <p:spPr>
          <a:xfrm>
            <a:off x="365760" y="2779776"/>
            <a:ext cx="548640" cy="45720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8" name="Text 16"/>
          <p:cNvSpPr/>
          <p:nvPr/>
        </p:nvSpPr>
        <p:spPr>
          <a:xfrm>
            <a:off x="1005840" y="2724912"/>
            <a:ext cx="2194560" cy="320040"/>
          </a:xfrm>
          <a:prstGeom prst="rect">
            <a:avLst/>
          </a:prstGeom>
          <a:noFill/>
          <a:ln/>
        </p:spPr>
        <p:txBody>
          <a:bodyPr wrap="square" rtlCol="0" anchor="ctr"/>
          <a:lstStyle/>
          <a:p>
            <a:pPr indent="0" marL="0">
              <a:buNone/>
            </a:pPr>
            <a:r>
              <a:rPr lang="en-US" sz="1300" b="1" dirty="0">
                <a:solidFill>
                  <a:srgbClr val="263238"/>
                </a:solidFill>
              </a:rPr>
              <a:t>KNBS CPI Reports</a:t>
            </a:r>
            <a:endParaRPr lang="en-US" sz="1300" dirty="0"/>
          </a:p>
        </p:txBody>
      </p:sp>
      <p:sp>
        <p:nvSpPr>
          <p:cNvPr id="19" name="Text 17"/>
          <p:cNvSpPr/>
          <p:nvPr/>
        </p:nvSpPr>
        <p:spPr>
          <a:xfrm>
            <a:off x="1005840" y="3054096"/>
            <a:ext cx="1371600" cy="256032"/>
          </a:xfrm>
          <a:prstGeom prst="rect">
            <a:avLst/>
          </a:prstGeom>
          <a:noFill/>
          <a:ln/>
        </p:spPr>
        <p:txBody>
          <a:bodyPr wrap="square" rtlCol="0" anchor="ctr"/>
          <a:lstStyle/>
          <a:p>
            <a:pPr indent="0" marL="0">
              <a:buNone/>
            </a:pPr>
            <a:r>
              <a:rPr lang="en-US" sz="1050" b="1" dirty="0">
                <a:solidFill>
                  <a:srgbClr val="2E7D32"/>
                </a:solidFill>
              </a:rPr>
              <a:t>37 raw PDFs</a:t>
            </a:r>
            <a:endParaRPr lang="en-US" sz="1050" dirty="0"/>
          </a:p>
        </p:txBody>
      </p:sp>
      <p:sp>
        <p:nvSpPr>
          <p:cNvPr id="20" name="Text 18"/>
          <p:cNvSpPr/>
          <p:nvPr/>
        </p:nvSpPr>
        <p:spPr>
          <a:xfrm>
            <a:off x="2468880" y="3054096"/>
            <a:ext cx="1097280" cy="256032"/>
          </a:xfrm>
          <a:prstGeom prst="rect">
            <a:avLst/>
          </a:prstGeom>
          <a:noFill/>
          <a:ln/>
        </p:spPr>
        <p:txBody>
          <a:bodyPr wrap="square" rtlCol="0" anchor="ctr"/>
          <a:lstStyle/>
          <a:p>
            <a:pPr indent="0" marL="0">
              <a:buNone/>
            </a:pPr>
            <a:r>
              <a:rPr lang="en-US" sz="1050" dirty="0">
                <a:solidFill>
                  <a:srgbClr val="546E7A"/>
                </a:solidFill>
              </a:rPr>
              <a:t>2020–2025</a:t>
            </a:r>
            <a:endParaRPr lang="en-US" sz="1050" dirty="0"/>
          </a:p>
        </p:txBody>
      </p:sp>
      <p:sp>
        <p:nvSpPr>
          <p:cNvPr id="21" name="Text 19"/>
          <p:cNvSpPr/>
          <p:nvPr/>
        </p:nvSpPr>
        <p:spPr>
          <a:xfrm>
            <a:off x="3291840" y="2761488"/>
            <a:ext cx="5486400" cy="502920"/>
          </a:xfrm>
          <a:prstGeom prst="rect">
            <a:avLst/>
          </a:prstGeom>
          <a:noFill/>
          <a:ln/>
        </p:spPr>
        <p:txBody>
          <a:bodyPr wrap="square" rtlCol="0" anchor="ctr"/>
          <a:lstStyle/>
          <a:p>
            <a:pPr indent="0" marL="0">
              <a:lnSpc>
                <a:spcPct val="120000"/>
              </a:lnSpc>
              <a:buNone/>
            </a:pPr>
            <a:r>
              <a:rPr lang="en-US" sz="1100" dirty="0">
                <a:solidFill>
                  <a:srgbClr val="546E7A"/>
                </a:solidFill>
              </a:rPr>
              <a:t>Kenya National Bureau of Statistics monthly price reports. Extracted using regex from unstructured PDF text.</a:t>
            </a:r>
            <a:endParaRPr lang="en-US" sz="1100" dirty="0"/>
          </a:p>
        </p:txBody>
      </p:sp>
      <p:sp>
        <p:nvSpPr>
          <p:cNvPr id="22" name="Shape 20"/>
          <p:cNvSpPr/>
          <p:nvPr/>
        </p:nvSpPr>
        <p:spPr>
          <a:xfrm>
            <a:off x="274320" y="3456432"/>
            <a:ext cx="8595360" cy="713232"/>
          </a:xfrm>
          <a:prstGeom prst="rect">
            <a:avLst/>
          </a:prstGeom>
          <a:solidFill>
            <a:srgbClr val="FFFFFF"/>
          </a:solidFill>
          <a:ln w="12700">
            <a:solidFill>
              <a:srgbClr val="DCEDC8"/>
            </a:solidFill>
            <a:prstDash val="solid"/>
          </a:ln>
        </p:spPr>
      </p:sp>
      <p:sp>
        <p:nvSpPr>
          <p:cNvPr id="23" name="Text 21"/>
          <p:cNvSpPr/>
          <p:nvPr/>
        </p:nvSpPr>
        <p:spPr>
          <a:xfrm>
            <a:off x="365760" y="3566160"/>
            <a:ext cx="548640" cy="45720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24" name="Text 22"/>
          <p:cNvSpPr/>
          <p:nvPr/>
        </p:nvSpPr>
        <p:spPr>
          <a:xfrm>
            <a:off x="1005840" y="3511296"/>
            <a:ext cx="2194560" cy="320040"/>
          </a:xfrm>
          <a:prstGeom prst="rect">
            <a:avLst/>
          </a:prstGeom>
          <a:noFill/>
          <a:ln/>
        </p:spPr>
        <p:txBody>
          <a:bodyPr wrap="square" rtlCol="0" anchor="ctr"/>
          <a:lstStyle/>
          <a:p>
            <a:pPr indent="0" marL="0">
              <a:buNone/>
            </a:pPr>
            <a:r>
              <a:rPr lang="en-US" sz="1300" b="1" dirty="0">
                <a:solidFill>
                  <a:srgbClr val="263238"/>
                </a:solidFill>
              </a:rPr>
              <a:t>WFP Food Prices</a:t>
            </a:r>
            <a:endParaRPr lang="en-US" sz="1300" dirty="0"/>
          </a:p>
        </p:txBody>
      </p:sp>
      <p:sp>
        <p:nvSpPr>
          <p:cNvPr id="25" name="Text 23"/>
          <p:cNvSpPr/>
          <p:nvPr/>
        </p:nvSpPr>
        <p:spPr>
          <a:xfrm>
            <a:off x="1005840" y="3840480"/>
            <a:ext cx="1371600" cy="256032"/>
          </a:xfrm>
          <a:prstGeom prst="rect">
            <a:avLst/>
          </a:prstGeom>
          <a:noFill/>
          <a:ln/>
        </p:spPr>
        <p:txBody>
          <a:bodyPr wrap="square" rtlCol="0" anchor="ctr"/>
          <a:lstStyle/>
          <a:p>
            <a:pPr indent="0" marL="0">
              <a:buNone/>
            </a:pPr>
            <a:r>
              <a:rPr lang="en-US" sz="1050" b="1" dirty="0">
                <a:solidFill>
                  <a:srgbClr val="2E7D32"/>
                </a:solidFill>
              </a:rPr>
              <a:t>19,005 rows</a:t>
            </a:r>
            <a:endParaRPr lang="en-US" sz="1050" dirty="0"/>
          </a:p>
        </p:txBody>
      </p:sp>
      <p:sp>
        <p:nvSpPr>
          <p:cNvPr id="26" name="Text 24"/>
          <p:cNvSpPr/>
          <p:nvPr/>
        </p:nvSpPr>
        <p:spPr>
          <a:xfrm>
            <a:off x="2468880" y="3840480"/>
            <a:ext cx="1097280" cy="256032"/>
          </a:xfrm>
          <a:prstGeom prst="rect">
            <a:avLst/>
          </a:prstGeom>
          <a:noFill/>
          <a:ln/>
        </p:spPr>
        <p:txBody>
          <a:bodyPr wrap="square" rtlCol="0" anchor="ctr"/>
          <a:lstStyle/>
          <a:p>
            <a:pPr indent="0" marL="0">
              <a:buNone/>
            </a:pPr>
            <a:r>
              <a:rPr lang="en-US" sz="1050" dirty="0">
                <a:solidFill>
                  <a:srgbClr val="546E7A"/>
                </a:solidFill>
              </a:rPr>
              <a:t>2006–2026</a:t>
            </a:r>
            <a:endParaRPr lang="en-US" sz="1050" dirty="0"/>
          </a:p>
        </p:txBody>
      </p:sp>
      <p:sp>
        <p:nvSpPr>
          <p:cNvPr id="27" name="Text 25"/>
          <p:cNvSpPr/>
          <p:nvPr/>
        </p:nvSpPr>
        <p:spPr>
          <a:xfrm>
            <a:off x="3291840" y="3547872"/>
            <a:ext cx="5486400" cy="502920"/>
          </a:xfrm>
          <a:prstGeom prst="rect">
            <a:avLst/>
          </a:prstGeom>
          <a:noFill/>
          <a:ln/>
        </p:spPr>
        <p:txBody>
          <a:bodyPr wrap="square" rtlCol="0" anchor="ctr"/>
          <a:lstStyle/>
          <a:p>
            <a:pPr indent="0" marL="0">
              <a:lnSpc>
                <a:spcPct val="120000"/>
              </a:lnSpc>
              <a:buNone/>
            </a:pPr>
            <a:r>
              <a:rPr lang="en-US" sz="1100" dirty="0">
                <a:solidFill>
                  <a:srgbClr val="546E7A"/>
                </a:solidFill>
              </a:rPr>
              <a:t>World Food Programme market monitoring across 226 Kenya markets. Powers the crop price recommendations.</a:t>
            </a:r>
            <a:endParaRPr lang="en-US" sz="1100" dirty="0"/>
          </a:p>
        </p:txBody>
      </p:sp>
      <p:sp>
        <p:nvSpPr>
          <p:cNvPr id="28" name="Shape 26"/>
          <p:cNvSpPr/>
          <p:nvPr/>
        </p:nvSpPr>
        <p:spPr>
          <a:xfrm>
            <a:off x="274320" y="4242816"/>
            <a:ext cx="8595360" cy="713232"/>
          </a:xfrm>
          <a:prstGeom prst="rect">
            <a:avLst/>
          </a:prstGeom>
          <a:solidFill>
            <a:srgbClr val="F9FBF7"/>
          </a:solidFill>
          <a:ln w="12700">
            <a:solidFill>
              <a:srgbClr val="DCEDC8"/>
            </a:solidFill>
            <a:prstDash val="solid"/>
          </a:ln>
        </p:spPr>
      </p:sp>
      <p:sp>
        <p:nvSpPr>
          <p:cNvPr id="29" name="Text 27"/>
          <p:cNvSpPr/>
          <p:nvPr/>
        </p:nvSpPr>
        <p:spPr>
          <a:xfrm>
            <a:off x="365760" y="4352544"/>
            <a:ext cx="548640" cy="45720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30" name="Text 28"/>
          <p:cNvSpPr/>
          <p:nvPr/>
        </p:nvSpPr>
        <p:spPr>
          <a:xfrm>
            <a:off x="1005840" y="4297680"/>
            <a:ext cx="2194560" cy="320040"/>
          </a:xfrm>
          <a:prstGeom prst="rect">
            <a:avLst/>
          </a:prstGeom>
          <a:noFill/>
          <a:ln/>
        </p:spPr>
        <p:txBody>
          <a:bodyPr wrap="square" rtlCol="0" anchor="ctr"/>
          <a:lstStyle/>
          <a:p>
            <a:pPr indent="0" marL="0">
              <a:buNone/>
            </a:pPr>
            <a:r>
              <a:rPr lang="en-US" sz="1300" b="1" dirty="0">
                <a:solidFill>
                  <a:srgbClr val="263238"/>
                </a:solidFill>
              </a:rPr>
              <a:t>Kenya Agri News</a:t>
            </a:r>
            <a:endParaRPr lang="en-US" sz="1300" dirty="0"/>
          </a:p>
        </p:txBody>
      </p:sp>
      <p:sp>
        <p:nvSpPr>
          <p:cNvPr id="31" name="Text 29"/>
          <p:cNvSpPr/>
          <p:nvPr/>
        </p:nvSpPr>
        <p:spPr>
          <a:xfrm>
            <a:off x="1005840" y="4626864"/>
            <a:ext cx="1371600" cy="256032"/>
          </a:xfrm>
          <a:prstGeom prst="rect">
            <a:avLst/>
          </a:prstGeom>
          <a:noFill/>
          <a:ln/>
        </p:spPr>
        <p:txBody>
          <a:bodyPr wrap="square" rtlCol="0" anchor="ctr"/>
          <a:lstStyle/>
          <a:p>
            <a:pPr indent="0" marL="0">
              <a:buNone/>
            </a:pPr>
            <a:r>
              <a:rPr lang="en-US" sz="1050" b="1" dirty="0">
                <a:solidFill>
                  <a:srgbClr val="2E7D32"/>
                </a:solidFill>
              </a:rPr>
              <a:t>300 articles</a:t>
            </a:r>
            <a:endParaRPr lang="en-US" sz="1050" dirty="0"/>
          </a:p>
        </p:txBody>
      </p:sp>
      <p:sp>
        <p:nvSpPr>
          <p:cNvPr id="32" name="Text 30"/>
          <p:cNvSpPr/>
          <p:nvPr/>
        </p:nvSpPr>
        <p:spPr>
          <a:xfrm>
            <a:off x="2468880" y="4626864"/>
            <a:ext cx="1097280" cy="256032"/>
          </a:xfrm>
          <a:prstGeom prst="rect">
            <a:avLst/>
          </a:prstGeom>
          <a:noFill/>
          <a:ln/>
        </p:spPr>
        <p:txBody>
          <a:bodyPr wrap="square" rtlCol="0" anchor="ctr"/>
          <a:lstStyle/>
          <a:p>
            <a:pPr indent="0" marL="0">
              <a:buNone/>
            </a:pPr>
            <a:r>
              <a:rPr lang="en-US" sz="1050" dirty="0">
                <a:solidFill>
                  <a:srgbClr val="546E7A"/>
                </a:solidFill>
              </a:rPr>
              <a:t>2025–2026</a:t>
            </a:r>
            <a:endParaRPr lang="en-US" sz="1050" dirty="0"/>
          </a:p>
        </p:txBody>
      </p:sp>
      <p:sp>
        <p:nvSpPr>
          <p:cNvPr id="33" name="Text 31"/>
          <p:cNvSpPr/>
          <p:nvPr/>
        </p:nvSpPr>
        <p:spPr>
          <a:xfrm>
            <a:off x="3291840" y="4334256"/>
            <a:ext cx="5486400" cy="502920"/>
          </a:xfrm>
          <a:prstGeom prst="rect">
            <a:avLst/>
          </a:prstGeom>
          <a:noFill/>
          <a:ln/>
        </p:spPr>
        <p:txBody>
          <a:bodyPr wrap="square" rtlCol="0" anchor="ctr"/>
          <a:lstStyle/>
          <a:p>
            <a:pPr indent="0" marL="0">
              <a:lnSpc>
                <a:spcPct val="120000"/>
              </a:lnSpc>
              <a:buNone/>
            </a:pPr>
            <a:r>
              <a:rPr lang="en-US" sz="1100" dirty="0">
                <a:solidFill>
                  <a:srgbClr val="546E7A"/>
                </a:solidFill>
              </a:rPr>
              <a:t>Scraped from Kenya News Agency. Used for VADER sentiment analysis and TF-IDF topic modelling.</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C62828"/>
          </a:solidFill>
          <a:ln w="12700">
            <a:solidFill>
              <a:srgbClr val="C62828"/>
            </a:solidFill>
            <a:prstDash val="solid"/>
          </a:ln>
        </p:spPr>
      </p:sp>
      <p:sp>
        <p:nvSpPr>
          <p:cNvPr id="3" name="Text 1"/>
          <p:cNvSpPr/>
          <p:nvPr/>
        </p:nvSpPr>
        <p:spPr>
          <a:xfrm>
            <a:off x="274320" y="109728"/>
            <a:ext cx="8595360" cy="694944"/>
          </a:xfrm>
          <a:prstGeom prst="rect">
            <a:avLst/>
          </a:prstGeom>
          <a:noFill/>
          <a:ln/>
        </p:spPr>
        <p:txBody>
          <a:bodyPr wrap="square" rtlCol="0" anchor="ctr"/>
          <a:lstStyle/>
          <a:p>
            <a:pPr indent="0" marL="0">
              <a:buNone/>
            </a:pPr>
            <a:r>
              <a:rPr lang="en-US" sz="2800" b="1" dirty="0">
                <a:solidFill>
                  <a:srgbClr val="FFFFFF"/>
                </a:solidFill>
              </a:rPr>
              <a:t>🔴  Model 1 — Food Security Risk Map</a:t>
            </a:r>
            <a:endParaRPr lang="en-US" sz="2800" dirty="0"/>
          </a:p>
        </p:txBody>
      </p:sp>
      <p:sp>
        <p:nvSpPr>
          <p:cNvPr id="4" name="Shape 2"/>
          <p:cNvSpPr/>
          <p:nvPr/>
        </p:nvSpPr>
        <p:spPr>
          <a:xfrm>
            <a:off x="274320" y="1005840"/>
            <a:ext cx="2606040" cy="1417320"/>
          </a:xfrm>
          <a:prstGeom prst="rect">
            <a:avLst/>
          </a:prstGeom>
          <a:solidFill>
            <a:srgbClr val="C62828"/>
          </a:solidFill>
          <a:ln w="12700">
            <a:solidFill>
              <a:srgbClr val="C62828"/>
            </a:solidFill>
            <a:prstDash val="solid"/>
          </a:ln>
          <a:effectLst>
            <a:outerShdw sx="100000" sy="100000" kx="0" ky="0" algn="bl" rotWithShape="0" blurRad="101600" dist="38100" dir="8100000">
              <a:srgbClr val="000000">
                <a:alpha val="12000"/>
              </a:srgbClr>
            </a:outerShdw>
          </a:effectLst>
        </p:spPr>
      </p:sp>
      <p:sp>
        <p:nvSpPr>
          <p:cNvPr id="5" name="Text 3"/>
          <p:cNvSpPr/>
          <p:nvPr/>
        </p:nvSpPr>
        <p:spPr>
          <a:xfrm>
            <a:off x="274320" y="1078992"/>
            <a:ext cx="2606040" cy="548640"/>
          </a:xfrm>
          <a:prstGeom prst="rect">
            <a:avLst/>
          </a:prstGeom>
          <a:noFill/>
          <a:ln/>
        </p:spPr>
        <p:txBody>
          <a:bodyPr wrap="square" rtlCol="0" anchor="ctr"/>
          <a:lstStyle/>
          <a:p>
            <a:pPr algn="ctr" indent="0" marL="0">
              <a:buNone/>
            </a:pPr>
            <a:r>
              <a:rPr lang="en-US" sz="2800" b="1" dirty="0">
                <a:solidFill>
                  <a:srgbClr val="FFFFFF"/>
                </a:solidFill>
              </a:rPr>
              <a:t>12 Counties</a:t>
            </a:r>
            <a:endParaRPr lang="en-US" sz="2800" dirty="0"/>
          </a:p>
        </p:txBody>
      </p:sp>
      <p:sp>
        <p:nvSpPr>
          <p:cNvPr id="6" name="Text 4"/>
          <p:cNvSpPr/>
          <p:nvPr/>
        </p:nvSpPr>
        <p:spPr>
          <a:xfrm>
            <a:off x="274320" y="1600200"/>
            <a:ext cx="2606040" cy="274320"/>
          </a:xfrm>
          <a:prstGeom prst="rect">
            <a:avLst/>
          </a:prstGeom>
          <a:noFill/>
          <a:ln/>
        </p:spPr>
        <p:txBody>
          <a:bodyPr wrap="square" rtlCol="0" anchor="ctr"/>
          <a:lstStyle/>
          <a:p>
            <a:pPr algn="ctr" indent="0" marL="0">
              <a:buNone/>
            </a:pPr>
            <a:r>
              <a:rPr lang="en-US" sz="1000" b="1" dirty="0">
                <a:solidFill>
                  <a:srgbClr val="FFFFFF"/>
                </a:solidFill>
              </a:rPr>
              <a:t>PHASE 3 — CRISIS</a:t>
            </a:r>
            <a:endParaRPr lang="en-US" sz="1000" dirty="0"/>
          </a:p>
        </p:txBody>
      </p:sp>
      <p:sp>
        <p:nvSpPr>
          <p:cNvPr id="7" name="Text 5"/>
          <p:cNvSpPr/>
          <p:nvPr/>
        </p:nvSpPr>
        <p:spPr>
          <a:xfrm>
            <a:off x="274320" y="1874520"/>
            <a:ext cx="2606040" cy="457200"/>
          </a:xfrm>
          <a:prstGeom prst="rect">
            <a:avLst/>
          </a:prstGeom>
          <a:noFill/>
          <a:ln/>
        </p:spPr>
        <p:txBody>
          <a:bodyPr wrap="square" rtlCol="0" anchor="ctr"/>
          <a:lstStyle/>
          <a:p>
            <a:pPr algn="ctr" indent="0" marL="0">
              <a:lnSpc>
                <a:spcPct val="120000"/>
              </a:lnSpc>
              <a:buNone/>
            </a:pPr>
            <a:r>
              <a:rPr lang="en-US" sz="950" dirty="0">
                <a:solidFill>
                  <a:srgbClr val="FFFFFF"/>
                </a:solidFill>
              </a:rPr>
              <a:t>Turkana, Garissa, Wajir,</a:t>
            </a:r>
            <a:endParaRPr lang="en-US" sz="950" dirty="0"/>
          </a:p>
          <a:p>
            <a:pPr algn="ctr" indent="0" marL="0">
              <a:lnSpc>
                <a:spcPct val="120000"/>
              </a:lnSpc>
              <a:buNone/>
            </a:pPr>
            <a:r>
              <a:rPr lang="en-US" sz="950" dirty="0">
                <a:solidFill>
                  <a:srgbClr val="FFFFFF"/>
                </a:solidFill>
              </a:rPr>
              <a:t>Mandera, Marsabit + 7 more</a:t>
            </a:r>
            <a:endParaRPr lang="en-US" sz="950" dirty="0"/>
          </a:p>
        </p:txBody>
      </p:sp>
      <p:sp>
        <p:nvSpPr>
          <p:cNvPr id="8" name="Shape 6"/>
          <p:cNvSpPr/>
          <p:nvPr/>
        </p:nvSpPr>
        <p:spPr>
          <a:xfrm>
            <a:off x="3108960" y="1005840"/>
            <a:ext cx="2606040" cy="1417320"/>
          </a:xfrm>
          <a:prstGeom prst="rect">
            <a:avLst/>
          </a:prstGeom>
          <a:solidFill>
            <a:srgbClr val="E65100"/>
          </a:solidFill>
          <a:ln w="12700">
            <a:solidFill>
              <a:srgbClr val="E65100"/>
            </a:solidFill>
            <a:prstDash val="solid"/>
          </a:ln>
          <a:effectLst>
            <a:outerShdw sx="100000" sy="100000" kx="0" ky="0" algn="bl" rotWithShape="0" blurRad="101600" dist="38100" dir="8100000">
              <a:srgbClr val="000000">
                <a:alpha val="12000"/>
              </a:srgbClr>
            </a:outerShdw>
          </a:effectLst>
        </p:spPr>
      </p:sp>
      <p:sp>
        <p:nvSpPr>
          <p:cNvPr id="9" name="Text 7"/>
          <p:cNvSpPr/>
          <p:nvPr/>
        </p:nvSpPr>
        <p:spPr>
          <a:xfrm>
            <a:off x="3108960" y="1078992"/>
            <a:ext cx="2606040" cy="548640"/>
          </a:xfrm>
          <a:prstGeom prst="rect">
            <a:avLst/>
          </a:prstGeom>
          <a:noFill/>
          <a:ln/>
        </p:spPr>
        <p:txBody>
          <a:bodyPr wrap="square" rtlCol="0" anchor="ctr"/>
          <a:lstStyle/>
          <a:p>
            <a:pPr algn="ctr" indent="0" marL="0">
              <a:buNone/>
            </a:pPr>
            <a:r>
              <a:rPr lang="en-US" sz="2800" b="1" dirty="0">
                <a:solidFill>
                  <a:srgbClr val="FFFFFF"/>
                </a:solidFill>
              </a:rPr>
              <a:t>9 Counties</a:t>
            </a:r>
            <a:endParaRPr lang="en-US" sz="2800" dirty="0"/>
          </a:p>
        </p:txBody>
      </p:sp>
      <p:sp>
        <p:nvSpPr>
          <p:cNvPr id="10" name="Text 8"/>
          <p:cNvSpPr/>
          <p:nvPr/>
        </p:nvSpPr>
        <p:spPr>
          <a:xfrm>
            <a:off x="3108960" y="1600200"/>
            <a:ext cx="2606040" cy="274320"/>
          </a:xfrm>
          <a:prstGeom prst="rect">
            <a:avLst/>
          </a:prstGeom>
          <a:noFill/>
          <a:ln/>
        </p:spPr>
        <p:txBody>
          <a:bodyPr wrap="square" rtlCol="0" anchor="ctr"/>
          <a:lstStyle/>
          <a:p>
            <a:pPr algn="ctr" indent="0" marL="0">
              <a:buNone/>
            </a:pPr>
            <a:r>
              <a:rPr lang="en-US" sz="1000" b="1" dirty="0">
                <a:solidFill>
                  <a:srgbClr val="FFFFFF"/>
                </a:solidFill>
              </a:rPr>
              <a:t>PHASE 2 — STRESSED</a:t>
            </a:r>
            <a:endParaRPr lang="en-US" sz="1000" dirty="0"/>
          </a:p>
        </p:txBody>
      </p:sp>
      <p:sp>
        <p:nvSpPr>
          <p:cNvPr id="11" name="Text 9"/>
          <p:cNvSpPr/>
          <p:nvPr/>
        </p:nvSpPr>
        <p:spPr>
          <a:xfrm>
            <a:off x="3108960" y="1874520"/>
            <a:ext cx="2606040" cy="457200"/>
          </a:xfrm>
          <a:prstGeom prst="rect">
            <a:avLst/>
          </a:prstGeom>
          <a:noFill/>
          <a:ln/>
        </p:spPr>
        <p:txBody>
          <a:bodyPr wrap="square" rtlCol="0" anchor="ctr"/>
          <a:lstStyle/>
          <a:p>
            <a:pPr algn="ctr" indent="0" marL="0">
              <a:lnSpc>
                <a:spcPct val="120000"/>
              </a:lnSpc>
              <a:buNone/>
            </a:pPr>
            <a:r>
              <a:rPr lang="en-US" sz="950" dirty="0">
                <a:solidFill>
                  <a:srgbClr val="FFFFFF"/>
                </a:solidFill>
              </a:rPr>
              <a:t>Baringo, Kilifi, Kajiado,</a:t>
            </a:r>
            <a:endParaRPr lang="en-US" sz="950" dirty="0"/>
          </a:p>
          <a:p>
            <a:pPr algn="ctr" indent="0" marL="0">
              <a:lnSpc>
                <a:spcPct val="120000"/>
              </a:lnSpc>
              <a:buNone/>
            </a:pPr>
            <a:r>
              <a:rPr lang="en-US" sz="950" dirty="0">
                <a:solidFill>
                  <a:srgbClr val="FFFFFF"/>
                </a:solidFill>
              </a:rPr>
              <a:t>Embu, Samburu + 4 more</a:t>
            </a:r>
            <a:endParaRPr lang="en-US" sz="950" dirty="0"/>
          </a:p>
        </p:txBody>
      </p:sp>
      <p:sp>
        <p:nvSpPr>
          <p:cNvPr id="12" name="Shape 10"/>
          <p:cNvSpPr/>
          <p:nvPr/>
        </p:nvSpPr>
        <p:spPr>
          <a:xfrm>
            <a:off x="5943600" y="1005840"/>
            <a:ext cx="2606040" cy="1417320"/>
          </a:xfrm>
          <a:prstGeom prst="rect">
            <a:avLst/>
          </a:prstGeom>
          <a:solidFill>
            <a:srgbClr val="66BB6A"/>
          </a:solidFill>
          <a:ln w="12700">
            <a:solidFill>
              <a:srgbClr val="66BB6A"/>
            </a:solidFill>
            <a:prstDash val="solid"/>
          </a:ln>
          <a:effectLst>
            <a:outerShdw sx="100000" sy="100000" kx="0" ky="0" algn="bl" rotWithShape="0" blurRad="101600" dist="38100" dir="8100000">
              <a:srgbClr val="000000">
                <a:alpha val="12000"/>
              </a:srgbClr>
            </a:outerShdw>
          </a:effectLst>
        </p:spPr>
      </p:sp>
      <p:sp>
        <p:nvSpPr>
          <p:cNvPr id="13" name="Text 11"/>
          <p:cNvSpPr/>
          <p:nvPr/>
        </p:nvSpPr>
        <p:spPr>
          <a:xfrm>
            <a:off x="5943600" y="1078992"/>
            <a:ext cx="2606040" cy="548640"/>
          </a:xfrm>
          <a:prstGeom prst="rect">
            <a:avLst/>
          </a:prstGeom>
          <a:noFill/>
          <a:ln/>
        </p:spPr>
        <p:txBody>
          <a:bodyPr wrap="square" rtlCol="0" anchor="ctr"/>
          <a:lstStyle/>
          <a:p>
            <a:pPr algn="ctr" indent="0" marL="0">
              <a:buNone/>
            </a:pPr>
            <a:r>
              <a:rPr lang="en-US" sz="2800" b="1" dirty="0">
                <a:solidFill>
                  <a:srgbClr val="FFFFFF"/>
                </a:solidFill>
              </a:rPr>
              <a:t>26 Counties</a:t>
            </a:r>
            <a:endParaRPr lang="en-US" sz="2800" dirty="0"/>
          </a:p>
        </p:txBody>
      </p:sp>
      <p:sp>
        <p:nvSpPr>
          <p:cNvPr id="14" name="Text 12"/>
          <p:cNvSpPr/>
          <p:nvPr/>
        </p:nvSpPr>
        <p:spPr>
          <a:xfrm>
            <a:off x="5943600" y="1600200"/>
            <a:ext cx="2606040" cy="274320"/>
          </a:xfrm>
          <a:prstGeom prst="rect">
            <a:avLst/>
          </a:prstGeom>
          <a:noFill/>
          <a:ln/>
        </p:spPr>
        <p:txBody>
          <a:bodyPr wrap="square" rtlCol="0" anchor="ctr"/>
          <a:lstStyle/>
          <a:p>
            <a:pPr algn="ctr" indent="0" marL="0">
              <a:buNone/>
            </a:pPr>
            <a:r>
              <a:rPr lang="en-US" sz="1000" b="1" dirty="0">
                <a:solidFill>
                  <a:srgbClr val="FFFFFF"/>
                </a:solidFill>
              </a:rPr>
              <a:t>PHASE 1 — MINIMAL</a:t>
            </a:r>
            <a:endParaRPr lang="en-US" sz="1000" dirty="0"/>
          </a:p>
        </p:txBody>
      </p:sp>
      <p:sp>
        <p:nvSpPr>
          <p:cNvPr id="15" name="Text 13"/>
          <p:cNvSpPr/>
          <p:nvPr/>
        </p:nvSpPr>
        <p:spPr>
          <a:xfrm>
            <a:off x="5943600" y="1874520"/>
            <a:ext cx="2606040" cy="457200"/>
          </a:xfrm>
          <a:prstGeom prst="rect">
            <a:avLst/>
          </a:prstGeom>
          <a:noFill/>
          <a:ln/>
        </p:spPr>
        <p:txBody>
          <a:bodyPr wrap="square" rtlCol="0" anchor="ctr"/>
          <a:lstStyle/>
          <a:p>
            <a:pPr algn="ctr" indent="0" marL="0">
              <a:lnSpc>
                <a:spcPct val="120000"/>
              </a:lnSpc>
              <a:buNone/>
            </a:pPr>
            <a:r>
              <a:rPr lang="en-US" sz="950" dirty="0">
                <a:solidFill>
                  <a:srgbClr val="FFFFFF"/>
                </a:solidFill>
              </a:rPr>
              <a:t>Nairobi, Nakuru, Kiambu,</a:t>
            </a:r>
            <a:endParaRPr lang="en-US" sz="950" dirty="0"/>
          </a:p>
          <a:p>
            <a:pPr algn="ctr" indent="0" marL="0">
              <a:lnSpc>
                <a:spcPct val="120000"/>
              </a:lnSpc>
              <a:buNone/>
            </a:pPr>
            <a:r>
              <a:rPr lang="en-US" sz="950" dirty="0">
                <a:solidFill>
                  <a:srgbClr val="FFFFFF"/>
                </a:solidFill>
              </a:rPr>
              <a:t>Nakuru, Kisumu + 21 more</a:t>
            </a:r>
            <a:endParaRPr lang="en-US" sz="950" dirty="0"/>
          </a:p>
        </p:txBody>
      </p:sp>
      <p:sp>
        <p:nvSpPr>
          <p:cNvPr id="16" name="Shape 14"/>
          <p:cNvSpPr/>
          <p:nvPr/>
        </p:nvSpPr>
        <p:spPr>
          <a:xfrm>
            <a:off x="274320" y="2560320"/>
            <a:ext cx="8595360" cy="685800"/>
          </a:xfrm>
          <a:prstGeom prst="rect">
            <a:avLst/>
          </a:prstGeom>
          <a:solidFill>
            <a:srgbClr val="FFF3E0"/>
          </a:solidFill>
          <a:ln w="19050">
            <a:solidFill>
              <a:srgbClr val="E65100"/>
            </a:solidFill>
            <a:prstDash val="solid"/>
          </a:ln>
        </p:spPr>
      </p:sp>
      <p:sp>
        <p:nvSpPr>
          <p:cNvPr id="17" name="Text 15"/>
          <p:cNvSpPr/>
          <p:nvPr/>
        </p:nvSpPr>
        <p:spPr>
          <a:xfrm>
            <a:off x="457200" y="2624328"/>
            <a:ext cx="8229600" cy="566928"/>
          </a:xfrm>
          <a:prstGeom prst="rect">
            <a:avLst/>
          </a:prstGeom>
          <a:noFill/>
          <a:ln/>
        </p:spPr>
        <p:txBody>
          <a:bodyPr wrap="square" rtlCol="0" anchor="ctr"/>
          <a:lstStyle/>
          <a:p>
            <a:pPr indent="0" marL="0">
              <a:lnSpc>
                <a:spcPct val="130000"/>
              </a:lnSpc>
              <a:buNone/>
            </a:pPr>
            <a:r>
              <a:rPr lang="en-US" sz="1150" dirty="0">
                <a:solidFill>
                  <a:srgbClr val="263238"/>
                </a:solidFill>
              </a:rPr>
              <a:t>💡  Key Insight: NASA SPI-3 (Standardised Precipitation Index) is the strongest predictor of IPC food security phase.</a:t>
            </a:r>
            <a:endParaRPr lang="en-US" sz="1150" dirty="0"/>
          </a:p>
          <a:p>
            <a:pPr indent="0" marL="0">
              <a:lnSpc>
                <a:spcPct val="130000"/>
              </a:lnSpc>
              <a:buNone/>
            </a:pPr>
            <a:r>
              <a:rPr lang="en-US" sz="1150" dirty="0">
                <a:solidFill>
                  <a:srgbClr val="263238"/>
                </a:solidFill>
              </a:rPr>
              <a:t>All 12 Crisis counties are in Kenya's northern arid and semi-arid zones — this is structural, not seasonal.</a:t>
            </a:r>
            <a:endParaRPr lang="en-US" sz="1150" dirty="0"/>
          </a:p>
        </p:txBody>
      </p:sp>
      <p:sp>
        <p:nvSpPr>
          <p:cNvPr id="18" name="Shape 16"/>
          <p:cNvSpPr/>
          <p:nvPr/>
        </p:nvSpPr>
        <p:spPr>
          <a:xfrm>
            <a:off x="274320" y="3337560"/>
            <a:ext cx="8595360" cy="1554480"/>
          </a:xfrm>
          <a:prstGeom prst="rect">
            <a:avLst/>
          </a:prstGeom>
          <a:solidFill>
            <a:srgbClr val="ECEFF1"/>
          </a:solidFill>
          <a:ln w="12700">
            <a:solidFill>
              <a:srgbClr val="B0BEC5"/>
            </a:solidFill>
            <a:prstDash val="solid"/>
          </a:ln>
        </p:spPr>
      </p:sp>
      <p:sp>
        <p:nvSpPr>
          <p:cNvPr id="19" name="Text 17"/>
          <p:cNvSpPr/>
          <p:nvPr/>
        </p:nvSpPr>
        <p:spPr>
          <a:xfrm>
            <a:off x="457200" y="3429000"/>
            <a:ext cx="3200400" cy="365760"/>
          </a:xfrm>
          <a:prstGeom prst="rect">
            <a:avLst/>
          </a:prstGeom>
          <a:noFill/>
          <a:ln/>
        </p:spPr>
        <p:txBody>
          <a:bodyPr wrap="square" rtlCol="0" anchor="ctr"/>
          <a:lstStyle/>
          <a:p>
            <a:pPr indent="0" marL="0">
              <a:buNone/>
            </a:pPr>
            <a:r>
              <a:rPr lang="en-US" sz="1300" b="1" dirty="0">
                <a:solidFill>
                  <a:srgbClr val="263238"/>
                </a:solidFill>
              </a:rPr>
              <a:t>Model Performance</a:t>
            </a:r>
            <a:endParaRPr lang="en-US" sz="1300" dirty="0"/>
          </a:p>
        </p:txBody>
      </p:sp>
      <p:sp>
        <p:nvSpPr>
          <p:cNvPr id="20" name="Text 18"/>
          <p:cNvSpPr/>
          <p:nvPr/>
        </p:nvSpPr>
        <p:spPr>
          <a:xfrm>
            <a:off x="457200" y="3840480"/>
            <a:ext cx="2011680" cy="274320"/>
          </a:xfrm>
          <a:prstGeom prst="rect">
            <a:avLst/>
          </a:prstGeom>
          <a:noFill/>
          <a:ln/>
        </p:spPr>
        <p:txBody>
          <a:bodyPr wrap="square" rtlCol="0" anchor="ctr"/>
          <a:lstStyle/>
          <a:p>
            <a:pPr indent="0" marL="0">
              <a:buNone/>
            </a:pPr>
            <a:r>
              <a:rPr lang="en-US" sz="1000" dirty="0">
                <a:solidFill>
                  <a:srgbClr val="546E7A"/>
                </a:solidFill>
              </a:rPr>
              <a:t>Weighted F1 Score</a:t>
            </a:r>
            <a:endParaRPr lang="en-US" sz="1000" dirty="0"/>
          </a:p>
        </p:txBody>
      </p:sp>
      <p:sp>
        <p:nvSpPr>
          <p:cNvPr id="21" name="Text 19"/>
          <p:cNvSpPr/>
          <p:nvPr/>
        </p:nvSpPr>
        <p:spPr>
          <a:xfrm>
            <a:off x="457200" y="4096512"/>
            <a:ext cx="2011680" cy="411480"/>
          </a:xfrm>
          <a:prstGeom prst="rect">
            <a:avLst/>
          </a:prstGeom>
          <a:noFill/>
          <a:ln/>
        </p:spPr>
        <p:txBody>
          <a:bodyPr wrap="square" rtlCol="0" anchor="ctr"/>
          <a:lstStyle/>
          <a:p>
            <a:pPr indent="0" marL="0">
              <a:buNone/>
            </a:pPr>
            <a:r>
              <a:rPr lang="en-US" sz="2200" b="1" dirty="0">
                <a:solidFill>
                  <a:srgbClr val="2E7D32"/>
                </a:solidFill>
              </a:rPr>
              <a:t>0.738</a:t>
            </a:r>
            <a:endParaRPr lang="en-US" sz="2200" dirty="0"/>
          </a:p>
        </p:txBody>
      </p:sp>
      <p:sp>
        <p:nvSpPr>
          <p:cNvPr id="22" name="Text 20"/>
          <p:cNvSpPr/>
          <p:nvPr/>
        </p:nvSpPr>
        <p:spPr>
          <a:xfrm>
            <a:off x="457200" y="4480560"/>
            <a:ext cx="2011680" cy="274320"/>
          </a:xfrm>
          <a:prstGeom prst="rect">
            <a:avLst/>
          </a:prstGeom>
          <a:noFill/>
          <a:ln/>
        </p:spPr>
        <p:txBody>
          <a:bodyPr wrap="square" rtlCol="0" anchor="ctr"/>
          <a:lstStyle/>
          <a:p>
            <a:pPr indent="0" marL="0">
              <a:buNone/>
            </a:pPr>
            <a:r>
              <a:rPr lang="en-US" sz="950" dirty="0">
                <a:solidFill>
                  <a:srgbClr val="546E7A"/>
                </a:solidFill>
              </a:rPr>
              <a:t>Target: &gt; 0.70 ✅</a:t>
            </a:r>
            <a:endParaRPr lang="en-US" sz="950" dirty="0"/>
          </a:p>
        </p:txBody>
      </p:sp>
      <p:sp>
        <p:nvSpPr>
          <p:cNvPr id="23" name="Text 21"/>
          <p:cNvSpPr/>
          <p:nvPr/>
        </p:nvSpPr>
        <p:spPr>
          <a:xfrm>
            <a:off x="2606040" y="3840480"/>
            <a:ext cx="2011680" cy="274320"/>
          </a:xfrm>
          <a:prstGeom prst="rect">
            <a:avLst/>
          </a:prstGeom>
          <a:noFill/>
          <a:ln/>
        </p:spPr>
        <p:txBody>
          <a:bodyPr wrap="square" rtlCol="0" anchor="ctr"/>
          <a:lstStyle/>
          <a:p>
            <a:pPr indent="0" marL="0">
              <a:buNone/>
            </a:pPr>
            <a:r>
              <a:rPr lang="en-US" sz="1000" dirty="0">
                <a:solidFill>
                  <a:srgbClr val="546E7A"/>
                </a:solidFill>
              </a:rPr>
              <a:t>Phase 3 Crisis F1</a:t>
            </a:r>
            <a:endParaRPr lang="en-US" sz="1000" dirty="0"/>
          </a:p>
        </p:txBody>
      </p:sp>
      <p:sp>
        <p:nvSpPr>
          <p:cNvPr id="24" name="Text 22"/>
          <p:cNvSpPr/>
          <p:nvPr/>
        </p:nvSpPr>
        <p:spPr>
          <a:xfrm>
            <a:off x="2606040" y="4096512"/>
            <a:ext cx="2011680" cy="411480"/>
          </a:xfrm>
          <a:prstGeom prst="rect">
            <a:avLst/>
          </a:prstGeom>
          <a:noFill/>
          <a:ln/>
        </p:spPr>
        <p:txBody>
          <a:bodyPr wrap="square" rtlCol="0" anchor="ctr"/>
          <a:lstStyle/>
          <a:p>
            <a:pPr indent="0" marL="0">
              <a:buNone/>
            </a:pPr>
            <a:r>
              <a:rPr lang="en-US" sz="2200" b="1" dirty="0">
                <a:solidFill>
                  <a:srgbClr val="2E7D32"/>
                </a:solidFill>
              </a:rPr>
              <a:t>0.81</a:t>
            </a:r>
            <a:endParaRPr lang="en-US" sz="2200" dirty="0"/>
          </a:p>
        </p:txBody>
      </p:sp>
      <p:sp>
        <p:nvSpPr>
          <p:cNvPr id="25" name="Text 23"/>
          <p:cNvSpPr/>
          <p:nvPr/>
        </p:nvSpPr>
        <p:spPr>
          <a:xfrm>
            <a:off x="2606040" y="4480560"/>
            <a:ext cx="2011680" cy="274320"/>
          </a:xfrm>
          <a:prstGeom prst="rect">
            <a:avLst/>
          </a:prstGeom>
          <a:noFill/>
          <a:ln/>
        </p:spPr>
        <p:txBody>
          <a:bodyPr wrap="square" rtlCol="0" anchor="ctr"/>
          <a:lstStyle/>
          <a:p>
            <a:pPr indent="0" marL="0">
              <a:buNone/>
            </a:pPr>
            <a:r>
              <a:rPr lang="en-US" sz="950" dirty="0">
                <a:solidFill>
                  <a:srgbClr val="546E7A"/>
                </a:solidFill>
              </a:rPr>
              <a:t>Best at detecting worst cases</a:t>
            </a:r>
            <a:endParaRPr lang="en-US" sz="950" dirty="0"/>
          </a:p>
        </p:txBody>
      </p:sp>
      <p:sp>
        <p:nvSpPr>
          <p:cNvPr id="26" name="Text 24"/>
          <p:cNvSpPr/>
          <p:nvPr/>
        </p:nvSpPr>
        <p:spPr>
          <a:xfrm>
            <a:off x="4754880" y="3840480"/>
            <a:ext cx="2011680" cy="274320"/>
          </a:xfrm>
          <a:prstGeom prst="rect">
            <a:avLst/>
          </a:prstGeom>
          <a:noFill/>
          <a:ln/>
        </p:spPr>
        <p:txBody>
          <a:bodyPr wrap="square" rtlCol="0" anchor="ctr"/>
          <a:lstStyle/>
          <a:p>
            <a:pPr indent="0" marL="0">
              <a:buNone/>
            </a:pPr>
            <a:r>
              <a:rPr lang="en-US" sz="1000" dirty="0">
                <a:solidFill>
                  <a:srgbClr val="546E7A"/>
                </a:solidFill>
              </a:rPr>
              <a:t>5-Fold CV Mean F1</a:t>
            </a:r>
            <a:endParaRPr lang="en-US" sz="1000" dirty="0"/>
          </a:p>
        </p:txBody>
      </p:sp>
      <p:sp>
        <p:nvSpPr>
          <p:cNvPr id="27" name="Text 25"/>
          <p:cNvSpPr/>
          <p:nvPr/>
        </p:nvSpPr>
        <p:spPr>
          <a:xfrm>
            <a:off x="4754880" y="4096512"/>
            <a:ext cx="2011680" cy="411480"/>
          </a:xfrm>
          <a:prstGeom prst="rect">
            <a:avLst/>
          </a:prstGeom>
          <a:noFill/>
          <a:ln/>
        </p:spPr>
        <p:txBody>
          <a:bodyPr wrap="square" rtlCol="0" anchor="ctr"/>
          <a:lstStyle/>
          <a:p>
            <a:pPr indent="0" marL="0">
              <a:buNone/>
            </a:pPr>
            <a:r>
              <a:rPr lang="en-US" sz="2200" b="1" dirty="0">
                <a:solidFill>
                  <a:srgbClr val="2E7D32"/>
                </a:solidFill>
              </a:rPr>
              <a:t>0.732</a:t>
            </a:r>
            <a:endParaRPr lang="en-US" sz="2200" dirty="0"/>
          </a:p>
        </p:txBody>
      </p:sp>
      <p:sp>
        <p:nvSpPr>
          <p:cNvPr id="28" name="Text 26"/>
          <p:cNvSpPr/>
          <p:nvPr/>
        </p:nvSpPr>
        <p:spPr>
          <a:xfrm>
            <a:off x="4754880" y="4480560"/>
            <a:ext cx="2011680" cy="274320"/>
          </a:xfrm>
          <a:prstGeom prst="rect">
            <a:avLst/>
          </a:prstGeom>
          <a:noFill/>
          <a:ln/>
        </p:spPr>
        <p:txBody>
          <a:bodyPr wrap="square" rtlCol="0" anchor="ctr"/>
          <a:lstStyle/>
          <a:p>
            <a:pPr indent="0" marL="0">
              <a:buNone/>
            </a:pPr>
            <a:r>
              <a:rPr lang="en-US" sz="950" dirty="0">
                <a:solidFill>
                  <a:srgbClr val="546E7A"/>
                </a:solidFill>
              </a:rPr>
              <a:t>No overfitting confirmed</a:t>
            </a:r>
            <a:endParaRPr lang="en-US" sz="950" dirty="0"/>
          </a:p>
        </p:txBody>
      </p:sp>
      <p:sp>
        <p:nvSpPr>
          <p:cNvPr id="29" name="Text 27"/>
          <p:cNvSpPr/>
          <p:nvPr/>
        </p:nvSpPr>
        <p:spPr>
          <a:xfrm>
            <a:off x="6903720" y="3840480"/>
            <a:ext cx="2011680" cy="274320"/>
          </a:xfrm>
          <a:prstGeom prst="rect">
            <a:avLst/>
          </a:prstGeom>
          <a:noFill/>
          <a:ln/>
        </p:spPr>
        <p:txBody>
          <a:bodyPr wrap="square" rtlCol="0" anchor="ctr"/>
          <a:lstStyle/>
          <a:p>
            <a:pPr indent="0" marL="0">
              <a:buNone/>
            </a:pPr>
            <a:r>
              <a:rPr lang="en-US" sz="1000" dirty="0">
                <a:solidFill>
                  <a:srgbClr val="546E7A"/>
                </a:solidFill>
              </a:rPr>
              <a:t>Primary Feature</a:t>
            </a:r>
            <a:endParaRPr lang="en-US" sz="1000" dirty="0"/>
          </a:p>
        </p:txBody>
      </p:sp>
      <p:sp>
        <p:nvSpPr>
          <p:cNvPr id="30" name="Text 28"/>
          <p:cNvSpPr/>
          <p:nvPr/>
        </p:nvSpPr>
        <p:spPr>
          <a:xfrm>
            <a:off x="6903720" y="4096512"/>
            <a:ext cx="2011680" cy="411480"/>
          </a:xfrm>
          <a:prstGeom prst="rect">
            <a:avLst/>
          </a:prstGeom>
          <a:noFill/>
          <a:ln/>
        </p:spPr>
        <p:txBody>
          <a:bodyPr wrap="square" rtlCol="0" anchor="ctr"/>
          <a:lstStyle/>
          <a:p>
            <a:pPr indent="0" marL="0">
              <a:buNone/>
            </a:pPr>
            <a:r>
              <a:rPr lang="en-US" sz="2200" b="1" dirty="0">
                <a:solidFill>
                  <a:srgbClr val="2E7D32"/>
                </a:solidFill>
              </a:rPr>
              <a:t>SPI-3</a:t>
            </a:r>
            <a:endParaRPr lang="en-US" sz="2200" dirty="0"/>
          </a:p>
        </p:txBody>
      </p:sp>
      <p:sp>
        <p:nvSpPr>
          <p:cNvPr id="31" name="Text 29"/>
          <p:cNvSpPr/>
          <p:nvPr/>
        </p:nvSpPr>
        <p:spPr>
          <a:xfrm>
            <a:off x="6903720" y="4480560"/>
            <a:ext cx="2011680" cy="274320"/>
          </a:xfrm>
          <a:prstGeom prst="rect">
            <a:avLst/>
          </a:prstGeom>
          <a:noFill/>
          <a:ln/>
        </p:spPr>
        <p:txBody>
          <a:bodyPr wrap="square" rtlCol="0" anchor="ctr"/>
          <a:lstStyle/>
          <a:p>
            <a:pPr indent="0" marL="0">
              <a:buNone/>
            </a:pPr>
            <a:r>
              <a:rPr lang="en-US" sz="950" dirty="0">
                <a:solidFill>
                  <a:srgbClr val="546E7A"/>
                </a:solidFill>
              </a:rPr>
              <a:t>NASA drought index</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565C0"/>
          </a:solidFill>
          <a:ln w="12700">
            <a:solidFill>
              <a:srgbClr val="1565C0"/>
            </a:solidFill>
            <a:prstDash val="solid"/>
          </a:ln>
        </p:spPr>
      </p:sp>
      <p:sp>
        <p:nvSpPr>
          <p:cNvPr id="3" name="Text 1"/>
          <p:cNvSpPr/>
          <p:nvPr/>
        </p:nvSpPr>
        <p:spPr>
          <a:xfrm>
            <a:off x="274320" y="109728"/>
            <a:ext cx="8595360" cy="694944"/>
          </a:xfrm>
          <a:prstGeom prst="rect">
            <a:avLst/>
          </a:prstGeom>
          <a:noFill/>
          <a:ln/>
        </p:spPr>
        <p:txBody>
          <a:bodyPr wrap="square" rtlCol="0" anchor="ctr"/>
          <a:lstStyle/>
          <a:p>
            <a:pPr indent="0" marL="0">
              <a:buNone/>
            </a:pPr>
            <a:r>
              <a:rPr lang="en-US" sz="2800" b="1" dirty="0">
                <a:solidFill>
                  <a:srgbClr val="FFFFFF"/>
                </a:solidFill>
              </a:rPr>
              <a:t>📈  Model 2 — Kenya Food Price Forecast</a:t>
            </a:r>
            <a:endParaRPr lang="en-US" sz="2800" dirty="0"/>
          </a:p>
        </p:txBody>
      </p:sp>
      <p:graphicFrame>
        <p:nvGraphicFramePr>
          <p:cNvPr id="4" name="Chart 0" descr=""/>
          <p:cNvGraphicFramePr/>
          <p:nvPr/>
        </p:nvGraphicFramePr>
        <p:xfrm>
          <a:off x="274320" y="960120"/>
          <a:ext cx="5669280" cy="32004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217920" y="1005840"/>
            <a:ext cx="2651760" cy="868680"/>
          </a:xfrm>
          <a:prstGeom prst="rect">
            <a:avLst/>
          </a:prstGeom>
          <a:solidFill>
            <a:srgbClr val="E3F2FD"/>
          </a:solidFill>
          <a:ln w="12700">
            <a:solidFill>
              <a:srgbClr val="1565C0"/>
            </a:solidFill>
            <a:prstDash val="solid"/>
          </a:ln>
          <a:effectLst>
            <a:outerShdw sx="100000" sy="100000" kx="0" ky="0" algn="bl" rotWithShape="0" blurRad="101600" dist="38100" dir="8100000">
              <a:srgbClr val="000000">
                <a:alpha val="12000"/>
              </a:srgbClr>
            </a:outerShdw>
          </a:effectLst>
        </p:spPr>
      </p:sp>
      <p:sp>
        <p:nvSpPr>
          <p:cNvPr id="6" name="Text 3"/>
          <p:cNvSpPr/>
          <p:nvPr/>
        </p:nvSpPr>
        <p:spPr>
          <a:xfrm>
            <a:off x="6217920" y="1051560"/>
            <a:ext cx="2651760" cy="457200"/>
          </a:xfrm>
          <a:prstGeom prst="rect">
            <a:avLst/>
          </a:prstGeom>
          <a:noFill/>
          <a:ln/>
        </p:spPr>
        <p:txBody>
          <a:bodyPr wrap="square" rtlCol="0" anchor="ctr"/>
          <a:lstStyle/>
          <a:p>
            <a:pPr algn="ctr" indent="0" marL="0">
              <a:buNone/>
            </a:pPr>
            <a:r>
              <a:rPr lang="en-US" sz="2600" b="1" dirty="0">
                <a:solidFill>
                  <a:srgbClr val="263238"/>
                </a:solidFill>
              </a:rPr>
              <a:t>+35%</a:t>
            </a:r>
            <a:endParaRPr lang="en-US" sz="2600" dirty="0"/>
          </a:p>
        </p:txBody>
      </p:sp>
      <p:sp>
        <p:nvSpPr>
          <p:cNvPr id="7" name="Text 4"/>
          <p:cNvSpPr/>
          <p:nvPr/>
        </p:nvSpPr>
        <p:spPr>
          <a:xfrm>
            <a:off x="6217920" y="1508760"/>
            <a:ext cx="2651760" cy="320040"/>
          </a:xfrm>
          <a:prstGeom prst="rect">
            <a:avLst/>
          </a:prstGeom>
          <a:noFill/>
          <a:ln/>
        </p:spPr>
        <p:txBody>
          <a:bodyPr wrap="square" rtlCol="0" anchor="ctr"/>
          <a:lstStyle/>
          <a:p>
            <a:pPr algn="ctr" indent="0" marL="0">
              <a:lnSpc>
                <a:spcPct val="110000"/>
              </a:lnSpc>
              <a:buNone/>
            </a:pPr>
            <a:r>
              <a:rPr lang="en-US" sz="1000" dirty="0">
                <a:solidFill>
                  <a:srgbClr val="546E7A"/>
                </a:solidFill>
              </a:rPr>
              <a:t>Price rise</a:t>
            </a:r>
            <a:endParaRPr lang="en-US" sz="1000" dirty="0"/>
          </a:p>
          <a:p>
            <a:pPr algn="ctr" indent="0" marL="0">
              <a:lnSpc>
                <a:spcPct val="110000"/>
              </a:lnSpc>
              <a:buNone/>
            </a:pPr>
            <a:r>
              <a:rPr lang="en-US" sz="1000" dirty="0">
                <a:solidFill>
                  <a:srgbClr val="546E7A"/>
                </a:solidFill>
              </a:rPr>
              <a:t>2020→2025</a:t>
            </a:r>
            <a:endParaRPr lang="en-US" sz="1000" dirty="0"/>
          </a:p>
        </p:txBody>
      </p:sp>
      <p:sp>
        <p:nvSpPr>
          <p:cNvPr id="8" name="Shape 5"/>
          <p:cNvSpPr/>
          <p:nvPr/>
        </p:nvSpPr>
        <p:spPr>
          <a:xfrm>
            <a:off x="6217920" y="2011680"/>
            <a:ext cx="2651760" cy="868680"/>
          </a:xfrm>
          <a:prstGeom prst="rect">
            <a:avLst/>
          </a:prstGeom>
          <a:solidFill>
            <a:srgbClr val="E8F5E9"/>
          </a:solidFill>
          <a:ln w="12700">
            <a:solidFill>
              <a:srgbClr val="2E7D32"/>
            </a:solidFill>
            <a:prstDash val="solid"/>
          </a:ln>
          <a:effectLst>
            <a:outerShdw sx="100000" sy="100000" kx="0" ky="0" algn="bl" rotWithShape="0" blurRad="101600" dist="38100" dir="8100000">
              <a:srgbClr val="000000">
                <a:alpha val="12000"/>
              </a:srgbClr>
            </a:outerShdw>
          </a:effectLst>
        </p:spPr>
      </p:sp>
      <p:sp>
        <p:nvSpPr>
          <p:cNvPr id="9" name="Text 6"/>
          <p:cNvSpPr/>
          <p:nvPr/>
        </p:nvSpPr>
        <p:spPr>
          <a:xfrm>
            <a:off x="6217920" y="2057400"/>
            <a:ext cx="2651760" cy="457200"/>
          </a:xfrm>
          <a:prstGeom prst="rect">
            <a:avLst/>
          </a:prstGeom>
          <a:noFill/>
          <a:ln/>
        </p:spPr>
        <p:txBody>
          <a:bodyPr wrap="square" rtlCol="0" anchor="ctr"/>
          <a:lstStyle/>
          <a:p>
            <a:pPr algn="ctr" indent="0" marL="0">
              <a:buNone/>
            </a:pPr>
            <a:r>
              <a:rPr lang="en-US" sz="2600" b="1" dirty="0">
                <a:solidFill>
                  <a:srgbClr val="263238"/>
                </a:solidFill>
              </a:rPr>
              <a:t>0.81%</a:t>
            </a:r>
            <a:endParaRPr lang="en-US" sz="2600" dirty="0"/>
          </a:p>
        </p:txBody>
      </p:sp>
      <p:sp>
        <p:nvSpPr>
          <p:cNvPr id="10" name="Text 7"/>
          <p:cNvSpPr/>
          <p:nvPr/>
        </p:nvSpPr>
        <p:spPr>
          <a:xfrm>
            <a:off x="6217920" y="2514600"/>
            <a:ext cx="2651760" cy="320040"/>
          </a:xfrm>
          <a:prstGeom prst="rect">
            <a:avLst/>
          </a:prstGeom>
          <a:noFill/>
          <a:ln/>
        </p:spPr>
        <p:txBody>
          <a:bodyPr wrap="square" rtlCol="0" anchor="ctr"/>
          <a:lstStyle/>
          <a:p>
            <a:pPr algn="ctr" indent="0" marL="0">
              <a:lnSpc>
                <a:spcPct val="110000"/>
              </a:lnSpc>
              <a:buNone/>
            </a:pPr>
            <a:r>
              <a:rPr lang="en-US" sz="1000" dirty="0">
                <a:solidFill>
                  <a:srgbClr val="546E7A"/>
                </a:solidFill>
              </a:rPr>
              <a:t>MAPE</a:t>
            </a:r>
            <a:endParaRPr lang="en-US" sz="1000" dirty="0"/>
          </a:p>
          <a:p>
            <a:pPr algn="ctr" indent="0" marL="0">
              <a:lnSpc>
                <a:spcPct val="110000"/>
              </a:lnSpc>
              <a:buNone/>
            </a:pPr>
            <a:r>
              <a:rPr lang="en-US" sz="1000" dirty="0">
                <a:solidFill>
                  <a:srgbClr val="546E7A"/>
                </a:solidFill>
              </a:rPr>
              <a:t>(Prophet model)</a:t>
            </a:r>
            <a:endParaRPr lang="en-US" sz="1000" dirty="0"/>
          </a:p>
        </p:txBody>
      </p:sp>
      <p:sp>
        <p:nvSpPr>
          <p:cNvPr id="11" name="Shape 8"/>
          <p:cNvSpPr/>
          <p:nvPr/>
        </p:nvSpPr>
        <p:spPr>
          <a:xfrm>
            <a:off x="6217920" y="3017520"/>
            <a:ext cx="2651760" cy="868680"/>
          </a:xfrm>
          <a:prstGeom prst="rect">
            <a:avLst/>
          </a:prstGeom>
          <a:solidFill>
            <a:srgbClr val="FFF3E0"/>
          </a:solidFill>
          <a:ln w="12700">
            <a:solidFill>
              <a:srgbClr val="E65100"/>
            </a:solidFill>
            <a:prstDash val="solid"/>
          </a:ln>
          <a:effectLst>
            <a:outerShdw sx="100000" sy="100000" kx="0" ky="0" algn="bl" rotWithShape="0" blurRad="101600" dist="38100" dir="8100000">
              <a:srgbClr val="000000">
                <a:alpha val="12000"/>
              </a:srgbClr>
            </a:outerShdw>
          </a:effectLst>
        </p:spPr>
      </p:sp>
      <p:sp>
        <p:nvSpPr>
          <p:cNvPr id="12" name="Text 9"/>
          <p:cNvSpPr/>
          <p:nvPr/>
        </p:nvSpPr>
        <p:spPr>
          <a:xfrm>
            <a:off x="6217920" y="3063240"/>
            <a:ext cx="2651760" cy="457200"/>
          </a:xfrm>
          <a:prstGeom prst="rect">
            <a:avLst/>
          </a:prstGeom>
          <a:noFill/>
          <a:ln/>
        </p:spPr>
        <p:txBody>
          <a:bodyPr wrap="square" rtlCol="0" anchor="ctr"/>
          <a:lstStyle/>
          <a:p>
            <a:pPr algn="ctr" indent="0" marL="0">
              <a:buNone/>
            </a:pPr>
            <a:r>
              <a:rPr lang="en-US" sz="2600" b="1" dirty="0">
                <a:solidFill>
                  <a:srgbClr val="263238"/>
                </a:solidFill>
              </a:rPr>
              <a:t>147.67</a:t>
            </a:r>
            <a:endParaRPr lang="en-US" sz="2600" dirty="0"/>
          </a:p>
        </p:txBody>
      </p:sp>
      <p:sp>
        <p:nvSpPr>
          <p:cNvPr id="13" name="Text 10"/>
          <p:cNvSpPr/>
          <p:nvPr/>
        </p:nvSpPr>
        <p:spPr>
          <a:xfrm>
            <a:off x="6217920" y="3520440"/>
            <a:ext cx="2651760" cy="320040"/>
          </a:xfrm>
          <a:prstGeom prst="rect">
            <a:avLst/>
          </a:prstGeom>
          <a:noFill/>
          <a:ln/>
        </p:spPr>
        <p:txBody>
          <a:bodyPr wrap="square" rtlCol="0" anchor="ctr"/>
          <a:lstStyle/>
          <a:p>
            <a:pPr algn="ctr" indent="0" marL="0">
              <a:lnSpc>
                <a:spcPct val="110000"/>
              </a:lnSpc>
              <a:buNone/>
            </a:pPr>
            <a:r>
              <a:rPr lang="en-US" sz="1000" dirty="0">
                <a:solidFill>
                  <a:srgbClr val="546E7A"/>
                </a:solidFill>
              </a:rPr>
              <a:t>Forecast CPI</a:t>
            </a:r>
            <a:endParaRPr lang="en-US" sz="1000" dirty="0"/>
          </a:p>
          <a:p>
            <a:pPr algn="ctr" indent="0" marL="0">
              <a:lnSpc>
                <a:spcPct val="110000"/>
              </a:lnSpc>
              <a:buNone/>
            </a:pPr>
            <a:r>
              <a:rPr lang="en-US" sz="1000" dirty="0">
                <a:solidFill>
                  <a:srgbClr val="546E7A"/>
                </a:solidFill>
              </a:rPr>
              <a:t>Jan 2026</a:t>
            </a:r>
            <a:endParaRPr lang="en-US" sz="1000" dirty="0"/>
          </a:p>
        </p:txBody>
      </p:sp>
      <p:sp>
        <p:nvSpPr>
          <p:cNvPr id="14" name="Shape 11"/>
          <p:cNvSpPr/>
          <p:nvPr/>
        </p:nvSpPr>
        <p:spPr>
          <a:xfrm>
            <a:off x="6217920" y="4023360"/>
            <a:ext cx="2651760" cy="868680"/>
          </a:xfrm>
          <a:prstGeom prst="rect">
            <a:avLst/>
          </a:prstGeom>
          <a:solidFill>
            <a:srgbClr val="FCE4EC"/>
          </a:solidFill>
          <a:ln w="12700">
            <a:solidFill>
              <a:srgbClr val="C62828"/>
            </a:solidFill>
            <a:prstDash val="solid"/>
          </a:ln>
          <a:effectLst>
            <a:outerShdw sx="100000" sy="100000" kx="0" ky="0" algn="bl" rotWithShape="0" blurRad="101600" dist="38100" dir="8100000">
              <a:srgbClr val="000000">
                <a:alpha val="12000"/>
              </a:srgbClr>
            </a:outerShdw>
          </a:effectLst>
        </p:spPr>
      </p:sp>
      <p:sp>
        <p:nvSpPr>
          <p:cNvPr id="15" name="Text 12"/>
          <p:cNvSpPr/>
          <p:nvPr/>
        </p:nvSpPr>
        <p:spPr>
          <a:xfrm>
            <a:off x="6217920" y="4069080"/>
            <a:ext cx="2651760" cy="457200"/>
          </a:xfrm>
          <a:prstGeom prst="rect">
            <a:avLst/>
          </a:prstGeom>
          <a:noFill/>
          <a:ln/>
        </p:spPr>
        <p:txBody>
          <a:bodyPr wrap="square" rtlCol="0" anchor="ctr"/>
          <a:lstStyle/>
          <a:p>
            <a:pPr algn="ctr" indent="0" marL="0">
              <a:buNone/>
            </a:pPr>
            <a:r>
              <a:rPr lang="en-US" sz="2600" b="1" dirty="0">
                <a:solidFill>
                  <a:srgbClr val="263238"/>
                </a:solidFill>
              </a:rPr>
              <a:t>18×</a:t>
            </a:r>
            <a:endParaRPr lang="en-US" sz="2600" dirty="0"/>
          </a:p>
        </p:txBody>
      </p:sp>
      <p:sp>
        <p:nvSpPr>
          <p:cNvPr id="16" name="Text 13"/>
          <p:cNvSpPr/>
          <p:nvPr/>
        </p:nvSpPr>
        <p:spPr>
          <a:xfrm>
            <a:off x="6217920" y="4526280"/>
            <a:ext cx="2651760" cy="320040"/>
          </a:xfrm>
          <a:prstGeom prst="rect">
            <a:avLst/>
          </a:prstGeom>
          <a:noFill/>
          <a:ln/>
        </p:spPr>
        <p:txBody>
          <a:bodyPr wrap="square" rtlCol="0" anchor="ctr"/>
          <a:lstStyle/>
          <a:p>
            <a:pPr algn="ctr" indent="0" marL="0">
              <a:lnSpc>
                <a:spcPct val="110000"/>
              </a:lnSpc>
              <a:buNone/>
            </a:pPr>
            <a:r>
              <a:rPr lang="en-US" sz="1000" dirty="0">
                <a:solidFill>
                  <a:srgbClr val="546E7A"/>
                </a:solidFill>
              </a:rPr>
              <a:t>Better than</a:t>
            </a:r>
            <a:endParaRPr lang="en-US" sz="1000" dirty="0"/>
          </a:p>
          <a:p>
            <a:pPr algn="ctr" indent="0" marL="0">
              <a:lnSpc>
                <a:spcPct val="110000"/>
              </a:lnSpc>
              <a:buNone/>
            </a:pPr>
            <a:r>
              <a:rPr lang="en-US" sz="1000" dirty="0">
                <a:solidFill>
                  <a:srgbClr val="546E7A"/>
                </a:solidFill>
              </a:rPr>
              <a:t>15% target</a:t>
            </a:r>
            <a:endParaRPr lang="en-US" sz="1000" dirty="0"/>
          </a:p>
        </p:txBody>
      </p:sp>
      <p:sp>
        <p:nvSpPr>
          <p:cNvPr id="17" name="Shape 14"/>
          <p:cNvSpPr/>
          <p:nvPr/>
        </p:nvSpPr>
        <p:spPr>
          <a:xfrm>
            <a:off x="274320" y="4251960"/>
            <a:ext cx="8595360" cy="640080"/>
          </a:xfrm>
          <a:prstGeom prst="rect">
            <a:avLst/>
          </a:prstGeom>
          <a:solidFill>
            <a:srgbClr val="E3F2FD"/>
          </a:solidFill>
          <a:ln w="12700">
            <a:solidFill>
              <a:srgbClr val="1565C0"/>
            </a:solidFill>
            <a:prstDash val="solid"/>
          </a:ln>
        </p:spPr>
      </p:sp>
      <p:sp>
        <p:nvSpPr>
          <p:cNvPr id="18" name="Text 15"/>
          <p:cNvSpPr/>
          <p:nvPr/>
        </p:nvSpPr>
        <p:spPr>
          <a:xfrm>
            <a:off x="457200" y="4315968"/>
            <a:ext cx="8229600" cy="502920"/>
          </a:xfrm>
          <a:prstGeom prst="rect">
            <a:avLst/>
          </a:prstGeom>
          <a:noFill/>
          <a:ln/>
        </p:spPr>
        <p:txBody>
          <a:bodyPr wrap="square" rtlCol="0" anchor="ctr"/>
          <a:lstStyle/>
          <a:p>
            <a:pPr indent="0" marL="0">
              <a:lnSpc>
                <a:spcPct val="120000"/>
              </a:lnSpc>
              <a:buNone/>
            </a:pPr>
            <a:r>
              <a:rPr lang="en-US" sz="1100" dirty="0">
                <a:solidFill>
                  <a:srgbClr val="263238"/>
                </a:solidFill>
              </a:rPr>
              <a:t>💡  Rainfall deficits cause food price spikes 2–3 months later. When NASA SPI-3 drops below -0.5, food prices spike. Pre-positioning food stocks at this signal prevents the worst price shocks for farmers.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E7D32"/>
          </a:solidFill>
          <a:ln w="12700">
            <a:solidFill>
              <a:srgbClr val="2E7D32"/>
            </a:solidFill>
            <a:prstDash val="solid"/>
          </a:ln>
        </p:spPr>
      </p:sp>
      <p:sp>
        <p:nvSpPr>
          <p:cNvPr id="3" name="Text 1"/>
          <p:cNvSpPr/>
          <p:nvPr/>
        </p:nvSpPr>
        <p:spPr>
          <a:xfrm>
            <a:off x="274320" y="109728"/>
            <a:ext cx="8595360" cy="694944"/>
          </a:xfrm>
          <a:prstGeom prst="rect">
            <a:avLst/>
          </a:prstGeom>
          <a:noFill/>
          <a:ln/>
        </p:spPr>
        <p:txBody>
          <a:bodyPr wrap="square" rtlCol="0" anchor="ctr"/>
          <a:lstStyle/>
          <a:p>
            <a:pPr indent="0" marL="0">
              <a:buNone/>
            </a:pPr>
            <a:r>
              <a:rPr lang="en-US" sz="2600" b="1" dirty="0">
                <a:solidFill>
                  <a:srgbClr val="FFFFFF"/>
                </a:solidFill>
              </a:rPr>
              <a:t>🌱  Module 3 — Farmer Crop &amp; Market Recommendation</a:t>
            </a:r>
            <a:endParaRPr lang="en-US" sz="2600" dirty="0"/>
          </a:p>
        </p:txBody>
      </p:sp>
      <p:sp>
        <p:nvSpPr>
          <p:cNvPr id="4" name="Text 2"/>
          <p:cNvSpPr/>
          <p:nvPr/>
        </p:nvSpPr>
        <p:spPr>
          <a:xfrm>
            <a:off x="274320" y="987552"/>
            <a:ext cx="8595360" cy="502920"/>
          </a:xfrm>
          <a:prstGeom prst="rect">
            <a:avLst/>
          </a:prstGeom>
          <a:noFill/>
          <a:ln/>
        </p:spPr>
        <p:txBody>
          <a:bodyPr wrap="square" rtlCol="0" anchor="ctr"/>
          <a:lstStyle/>
          <a:p>
            <a:pPr indent="0" marL="0">
              <a:lnSpc>
                <a:spcPct val="130000"/>
              </a:lnSpc>
              <a:buNone/>
            </a:pPr>
            <a:r>
              <a:rPr lang="en-US" sz="1250" dirty="0">
                <a:solidFill>
                  <a:srgbClr val="546E7A"/>
                </a:solidFill>
              </a:rPr>
              <a:t>A farmer in any of Kenya's 47 counties selects their county and season. The platform scores 10 crops against NASA weather data and shows current WFP market prices per kg.</a:t>
            </a:r>
            <a:endParaRPr lang="en-US" sz="1250" dirty="0"/>
          </a:p>
        </p:txBody>
      </p:sp>
      <p:sp>
        <p:nvSpPr>
          <p:cNvPr id="5" name="Shape 3"/>
          <p:cNvSpPr/>
          <p:nvPr/>
        </p:nvSpPr>
        <p:spPr>
          <a:xfrm>
            <a:off x="274320" y="1600200"/>
            <a:ext cx="4114800" cy="3246120"/>
          </a:xfrm>
          <a:prstGeom prst="rect">
            <a:avLst/>
          </a:prstGeom>
          <a:solidFill>
            <a:srgbClr val="FFF3E0"/>
          </a:solidFill>
          <a:ln w="19050">
            <a:solidFill>
              <a:srgbClr val="E65100"/>
            </a:solidFill>
            <a:prstDash val="solid"/>
          </a:ln>
          <a:effectLst>
            <a:outerShdw sx="100000" sy="100000" kx="0" ky="0" algn="bl" rotWithShape="0" blurRad="101600" dist="38100" dir="8100000">
              <a:srgbClr val="000000">
                <a:alpha val="12000"/>
              </a:srgbClr>
            </a:outerShdw>
          </a:effectLst>
        </p:spPr>
      </p:sp>
      <p:sp>
        <p:nvSpPr>
          <p:cNvPr id="6" name="Text 4"/>
          <p:cNvSpPr/>
          <p:nvPr/>
        </p:nvSpPr>
        <p:spPr>
          <a:xfrm>
            <a:off x="457200" y="1664208"/>
            <a:ext cx="3749040" cy="365760"/>
          </a:xfrm>
          <a:prstGeom prst="rect">
            <a:avLst/>
          </a:prstGeom>
          <a:noFill/>
          <a:ln/>
        </p:spPr>
        <p:txBody>
          <a:bodyPr wrap="square" rtlCol="0" anchor="ctr"/>
          <a:lstStyle/>
          <a:p>
            <a:pPr indent="0" marL="0">
              <a:buNone/>
            </a:pPr>
            <a:r>
              <a:rPr lang="en-US" sz="1400" b="1" dirty="0">
                <a:solidFill>
                  <a:srgbClr val="E65100"/>
                </a:solidFill>
              </a:rPr>
              <a:t>🏜️  Turkana County</a:t>
            </a:r>
            <a:endParaRPr lang="en-US" sz="1400" dirty="0"/>
          </a:p>
        </p:txBody>
      </p:sp>
      <p:sp>
        <p:nvSpPr>
          <p:cNvPr id="7" name="Text 5"/>
          <p:cNvSpPr/>
          <p:nvPr/>
        </p:nvSpPr>
        <p:spPr>
          <a:xfrm>
            <a:off x="457200" y="2011680"/>
            <a:ext cx="3749040" cy="274320"/>
          </a:xfrm>
          <a:prstGeom prst="rect">
            <a:avLst/>
          </a:prstGeom>
          <a:noFill/>
          <a:ln/>
        </p:spPr>
        <p:txBody>
          <a:bodyPr wrap="square" rtlCol="0" anchor="ctr"/>
          <a:lstStyle/>
          <a:p>
            <a:pPr indent="0" marL="0">
              <a:buNone/>
            </a:pPr>
            <a:r>
              <a:rPr lang="en-US" sz="1050" dirty="0">
                <a:solidFill>
                  <a:srgbClr val="546E7A"/>
                </a:solidFill>
              </a:rPr>
              <a:t>Arid • 94% drought • Phase 3 Crisis</a:t>
            </a:r>
            <a:endParaRPr lang="en-US" sz="1050" dirty="0"/>
          </a:p>
        </p:txBody>
      </p:sp>
      <p:sp>
        <p:nvSpPr>
          <p:cNvPr id="8" name="Text 6"/>
          <p:cNvSpPr/>
          <p:nvPr/>
        </p:nvSpPr>
        <p:spPr>
          <a:xfrm>
            <a:off x="457200" y="2377440"/>
            <a:ext cx="2286000" cy="365760"/>
          </a:xfrm>
          <a:prstGeom prst="rect">
            <a:avLst/>
          </a:prstGeom>
          <a:noFill/>
          <a:ln/>
        </p:spPr>
        <p:txBody>
          <a:bodyPr wrap="square" rtlCol="0" anchor="ctr"/>
          <a:lstStyle/>
          <a:p>
            <a:pPr indent="0" marL="0">
              <a:buNone/>
            </a:pPr>
            <a:r>
              <a:rPr lang="en-US" sz="1250" b="1" dirty="0">
                <a:solidFill>
                  <a:srgbClr val="263238"/>
                </a:solidFill>
              </a:rPr>
              <a:t>🥇 Cassava</a:t>
            </a:r>
            <a:endParaRPr lang="en-US" sz="1250" dirty="0"/>
          </a:p>
        </p:txBody>
      </p:sp>
      <p:sp>
        <p:nvSpPr>
          <p:cNvPr id="9" name="Text 7"/>
          <p:cNvSpPr/>
          <p:nvPr/>
        </p:nvSpPr>
        <p:spPr>
          <a:xfrm>
            <a:off x="457200" y="2679192"/>
            <a:ext cx="3657600" cy="256032"/>
          </a:xfrm>
          <a:prstGeom prst="rect">
            <a:avLst/>
          </a:prstGeom>
          <a:noFill/>
          <a:ln/>
        </p:spPr>
        <p:txBody>
          <a:bodyPr wrap="square" rtlCol="0" anchor="ctr"/>
          <a:lstStyle/>
          <a:p>
            <a:pPr indent="0" marL="0">
              <a:buNone/>
            </a:pPr>
            <a:r>
              <a:rPr lang="en-US" sz="1000" dirty="0">
                <a:solidFill>
                  <a:srgbClr val="546E7A"/>
                </a:solidFill>
              </a:rPr>
              <a:t>Score: 100%  •  N/A</a:t>
            </a:r>
            <a:endParaRPr lang="en-US" sz="1000" dirty="0"/>
          </a:p>
        </p:txBody>
      </p:sp>
      <p:sp>
        <p:nvSpPr>
          <p:cNvPr id="10" name="Text 8"/>
          <p:cNvSpPr/>
          <p:nvPr/>
        </p:nvSpPr>
        <p:spPr>
          <a:xfrm>
            <a:off x="457200" y="2971800"/>
            <a:ext cx="2286000" cy="365760"/>
          </a:xfrm>
          <a:prstGeom prst="rect">
            <a:avLst/>
          </a:prstGeom>
          <a:noFill/>
          <a:ln/>
        </p:spPr>
        <p:txBody>
          <a:bodyPr wrap="square" rtlCol="0" anchor="ctr"/>
          <a:lstStyle/>
          <a:p>
            <a:pPr indent="0" marL="0">
              <a:buNone/>
            </a:pPr>
            <a:r>
              <a:rPr lang="en-US" sz="1250" b="1" dirty="0">
                <a:solidFill>
                  <a:srgbClr val="263238"/>
                </a:solidFill>
              </a:rPr>
              <a:t>🥈 Cowpeas</a:t>
            </a:r>
            <a:endParaRPr lang="en-US" sz="1250" dirty="0"/>
          </a:p>
        </p:txBody>
      </p:sp>
      <p:sp>
        <p:nvSpPr>
          <p:cNvPr id="11" name="Text 9"/>
          <p:cNvSpPr/>
          <p:nvPr/>
        </p:nvSpPr>
        <p:spPr>
          <a:xfrm>
            <a:off x="457200" y="3273552"/>
            <a:ext cx="3657600" cy="256032"/>
          </a:xfrm>
          <a:prstGeom prst="rect">
            <a:avLst/>
          </a:prstGeom>
          <a:noFill/>
          <a:ln/>
        </p:spPr>
        <p:txBody>
          <a:bodyPr wrap="square" rtlCol="0" anchor="ctr"/>
          <a:lstStyle/>
          <a:p>
            <a:pPr indent="0" marL="0">
              <a:buNone/>
            </a:pPr>
            <a:r>
              <a:rPr lang="en-US" sz="1000" dirty="0">
                <a:solidFill>
                  <a:srgbClr val="546E7A"/>
                </a:solidFill>
              </a:rPr>
              <a:t>Score: 94%  •  KES 138/kg</a:t>
            </a:r>
            <a:endParaRPr lang="en-US" sz="1000" dirty="0"/>
          </a:p>
        </p:txBody>
      </p:sp>
      <p:sp>
        <p:nvSpPr>
          <p:cNvPr id="12" name="Text 10"/>
          <p:cNvSpPr/>
          <p:nvPr/>
        </p:nvSpPr>
        <p:spPr>
          <a:xfrm>
            <a:off x="457200" y="3566160"/>
            <a:ext cx="2286000" cy="365760"/>
          </a:xfrm>
          <a:prstGeom prst="rect">
            <a:avLst/>
          </a:prstGeom>
          <a:noFill/>
          <a:ln/>
        </p:spPr>
        <p:txBody>
          <a:bodyPr wrap="square" rtlCol="0" anchor="ctr"/>
          <a:lstStyle/>
          <a:p>
            <a:pPr indent="0" marL="0">
              <a:buNone/>
            </a:pPr>
            <a:r>
              <a:rPr lang="en-US" sz="1250" b="1" dirty="0">
                <a:solidFill>
                  <a:srgbClr val="263238"/>
                </a:solidFill>
              </a:rPr>
              <a:t>🥉 Sorghum</a:t>
            </a:r>
            <a:endParaRPr lang="en-US" sz="1250" dirty="0"/>
          </a:p>
        </p:txBody>
      </p:sp>
      <p:sp>
        <p:nvSpPr>
          <p:cNvPr id="13" name="Text 11"/>
          <p:cNvSpPr/>
          <p:nvPr/>
        </p:nvSpPr>
        <p:spPr>
          <a:xfrm>
            <a:off x="457200" y="3867912"/>
            <a:ext cx="3657600" cy="256032"/>
          </a:xfrm>
          <a:prstGeom prst="rect">
            <a:avLst/>
          </a:prstGeom>
          <a:noFill/>
          <a:ln/>
        </p:spPr>
        <p:txBody>
          <a:bodyPr wrap="square" rtlCol="0" anchor="ctr"/>
          <a:lstStyle/>
          <a:p>
            <a:pPr indent="0" marL="0">
              <a:buNone/>
            </a:pPr>
            <a:r>
              <a:rPr lang="en-US" sz="1000" dirty="0">
                <a:solidFill>
                  <a:srgbClr val="546E7A"/>
                </a:solidFill>
              </a:rPr>
              <a:t>Score: 90%  •  KES 76/kg</a:t>
            </a:r>
            <a:endParaRPr lang="en-US" sz="1000" dirty="0"/>
          </a:p>
        </p:txBody>
      </p:sp>
      <p:sp>
        <p:nvSpPr>
          <p:cNvPr id="14" name="Text 12"/>
          <p:cNvSpPr/>
          <p:nvPr/>
        </p:nvSpPr>
        <p:spPr>
          <a:xfrm>
            <a:off x="457200" y="4251960"/>
            <a:ext cx="3657600" cy="457200"/>
          </a:xfrm>
          <a:prstGeom prst="rect">
            <a:avLst/>
          </a:prstGeom>
          <a:noFill/>
          <a:ln/>
        </p:spPr>
        <p:txBody>
          <a:bodyPr wrap="square" rtlCol="0" anchor="ctr"/>
          <a:lstStyle/>
          <a:p>
            <a:pPr indent="0" marL="0">
              <a:lnSpc>
                <a:spcPct val="120000"/>
              </a:lnSpc>
              <a:buNone/>
            </a:pPr>
            <a:r>
              <a:rPr lang="en-US" sz="1000" dirty="0">
                <a:solidFill>
                  <a:srgbClr val="E65100"/>
                </a:solidFill>
              </a:rPr>
              <a:t>All drought-tolerant crops selected automatically</a:t>
            </a:r>
            <a:endParaRPr lang="en-US" sz="1000" dirty="0"/>
          </a:p>
          <a:p>
            <a:pPr indent="0" marL="0">
              <a:lnSpc>
                <a:spcPct val="120000"/>
              </a:lnSpc>
              <a:buNone/>
            </a:pPr>
            <a:r>
              <a:rPr lang="en-US" sz="1000" dirty="0">
                <a:solidFill>
                  <a:srgbClr val="E65100"/>
                </a:solidFill>
              </a:rPr>
              <a:t>based on 24 years of NASA rainfall data</a:t>
            </a:r>
            <a:endParaRPr lang="en-US" sz="1000" dirty="0"/>
          </a:p>
        </p:txBody>
      </p:sp>
      <p:sp>
        <p:nvSpPr>
          <p:cNvPr id="15" name="Shape 13"/>
          <p:cNvSpPr/>
          <p:nvPr/>
        </p:nvSpPr>
        <p:spPr>
          <a:xfrm>
            <a:off x="4754880" y="1600200"/>
            <a:ext cx="4114800" cy="3246120"/>
          </a:xfrm>
          <a:prstGeom prst="rect">
            <a:avLst/>
          </a:prstGeom>
          <a:solidFill>
            <a:srgbClr val="E8F5E9"/>
          </a:solidFill>
          <a:ln w="19050">
            <a:solidFill>
              <a:srgbClr val="2E7D32"/>
            </a:solidFill>
            <a:prstDash val="solid"/>
          </a:ln>
          <a:effectLst>
            <a:outerShdw sx="100000" sy="100000" kx="0" ky="0" algn="bl" rotWithShape="0" blurRad="101600" dist="38100" dir="8100000">
              <a:srgbClr val="000000">
                <a:alpha val="12000"/>
              </a:srgbClr>
            </a:outerShdw>
          </a:effectLst>
        </p:spPr>
      </p:sp>
      <p:sp>
        <p:nvSpPr>
          <p:cNvPr id="16" name="Text 14"/>
          <p:cNvSpPr/>
          <p:nvPr/>
        </p:nvSpPr>
        <p:spPr>
          <a:xfrm>
            <a:off x="4937760" y="1664208"/>
            <a:ext cx="3749040" cy="365760"/>
          </a:xfrm>
          <a:prstGeom prst="rect">
            <a:avLst/>
          </a:prstGeom>
          <a:noFill/>
          <a:ln/>
        </p:spPr>
        <p:txBody>
          <a:bodyPr wrap="square" rtlCol="0" anchor="ctr"/>
          <a:lstStyle/>
          <a:p>
            <a:pPr indent="0" marL="0">
              <a:buNone/>
            </a:pPr>
            <a:r>
              <a:rPr lang="en-US" sz="1400" b="1" dirty="0">
                <a:solidFill>
                  <a:srgbClr val="2E7D32"/>
                </a:solidFill>
              </a:rPr>
              <a:t>🏔️  Nakuru County</a:t>
            </a:r>
            <a:endParaRPr lang="en-US" sz="1400" dirty="0"/>
          </a:p>
        </p:txBody>
      </p:sp>
      <p:sp>
        <p:nvSpPr>
          <p:cNvPr id="17" name="Text 15"/>
          <p:cNvSpPr/>
          <p:nvPr/>
        </p:nvSpPr>
        <p:spPr>
          <a:xfrm>
            <a:off x="4937760" y="2011680"/>
            <a:ext cx="3749040" cy="274320"/>
          </a:xfrm>
          <a:prstGeom prst="rect">
            <a:avLst/>
          </a:prstGeom>
          <a:noFill/>
          <a:ln/>
        </p:spPr>
        <p:txBody>
          <a:bodyPr wrap="square" rtlCol="0" anchor="ctr"/>
          <a:lstStyle/>
          <a:p>
            <a:pPr indent="0" marL="0">
              <a:buNone/>
            </a:pPr>
            <a:r>
              <a:rPr lang="en-US" sz="1050" dirty="0">
                <a:solidFill>
                  <a:srgbClr val="546E7A"/>
                </a:solidFill>
              </a:rPr>
              <a:t>Highland • Adequate rainfall • Phase 1 Minimal</a:t>
            </a:r>
            <a:endParaRPr lang="en-US" sz="1050" dirty="0"/>
          </a:p>
        </p:txBody>
      </p:sp>
      <p:sp>
        <p:nvSpPr>
          <p:cNvPr id="18" name="Text 16"/>
          <p:cNvSpPr/>
          <p:nvPr/>
        </p:nvSpPr>
        <p:spPr>
          <a:xfrm>
            <a:off x="4937760" y="2377440"/>
            <a:ext cx="2743200" cy="365760"/>
          </a:xfrm>
          <a:prstGeom prst="rect">
            <a:avLst/>
          </a:prstGeom>
          <a:noFill/>
          <a:ln/>
        </p:spPr>
        <p:txBody>
          <a:bodyPr wrap="square" rtlCol="0" anchor="ctr"/>
          <a:lstStyle/>
          <a:p>
            <a:pPr indent="0" marL="0">
              <a:buNone/>
            </a:pPr>
            <a:r>
              <a:rPr lang="en-US" sz="1250" b="1" dirty="0">
                <a:solidFill>
                  <a:srgbClr val="263238"/>
                </a:solidFill>
              </a:rPr>
              <a:t>🥇 Potatoes (Irish)</a:t>
            </a:r>
            <a:endParaRPr lang="en-US" sz="1250" dirty="0"/>
          </a:p>
        </p:txBody>
      </p:sp>
      <p:sp>
        <p:nvSpPr>
          <p:cNvPr id="19" name="Text 17"/>
          <p:cNvSpPr/>
          <p:nvPr/>
        </p:nvSpPr>
        <p:spPr>
          <a:xfrm>
            <a:off x="4937760" y="2679192"/>
            <a:ext cx="3657600" cy="256032"/>
          </a:xfrm>
          <a:prstGeom prst="rect">
            <a:avLst/>
          </a:prstGeom>
          <a:noFill/>
          <a:ln/>
        </p:spPr>
        <p:txBody>
          <a:bodyPr wrap="square" rtlCol="0" anchor="ctr"/>
          <a:lstStyle/>
          <a:p>
            <a:pPr indent="0" marL="0">
              <a:buNone/>
            </a:pPr>
            <a:r>
              <a:rPr lang="en-US" sz="1000" dirty="0">
                <a:solidFill>
                  <a:srgbClr val="546E7A"/>
                </a:solidFill>
              </a:rPr>
              <a:t>Score: 87%  •  KES 75/kg</a:t>
            </a:r>
            <a:endParaRPr lang="en-US" sz="1000" dirty="0"/>
          </a:p>
        </p:txBody>
      </p:sp>
      <p:sp>
        <p:nvSpPr>
          <p:cNvPr id="20" name="Text 18"/>
          <p:cNvSpPr/>
          <p:nvPr/>
        </p:nvSpPr>
        <p:spPr>
          <a:xfrm>
            <a:off x="4937760" y="2971800"/>
            <a:ext cx="2743200" cy="365760"/>
          </a:xfrm>
          <a:prstGeom prst="rect">
            <a:avLst/>
          </a:prstGeom>
          <a:noFill/>
          <a:ln/>
        </p:spPr>
        <p:txBody>
          <a:bodyPr wrap="square" rtlCol="0" anchor="ctr"/>
          <a:lstStyle/>
          <a:p>
            <a:pPr indent="0" marL="0">
              <a:buNone/>
            </a:pPr>
            <a:r>
              <a:rPr lang="en-US" sz="1250" b="1" dirty="0">
                <a:solidFill>
                  <a:srgbClr val="263238"/>
                </a:solidFill>
              </a:rPr>
              <a:t>🥈 Beans</a:t>
            </a:r>
            <a:endParaRPr lang="en-US" sz="1250" dirty="0"/>
          </a:p>
        </p:txBody>
      </p:sp>
      <p:sp>
        <p:nvSpPr>
          <p:cNvPr id="21" name="Text 19"/>
          <p:cNvSpPr/>
          <p:nvPr/>
        </p:nvSpPr>
        <p:spPr>
          <a:xfrm>
            <a:off x="4937760" y="3273552"/>
            <a:ext cx="3657600" cy="256032"/>
          </a:xfrm>
          <a:prstGeom prst="rect">
            <a:avLst/>
          </a:prstGeom>
          <a:noFill/>
          <a:ln/>
        </p:spPr>
        <p:txBody>
          <a:bodyPr wrap="square" rtlCol="0" anchor="ctr"/>
          <a:lstStyle/>
          <a:p>
            <a:pPr indent="0" marL="0">
              <a:buNone/>
            </a:pPr>
            <a:r>
              <a:rPr lang="en-US" sz="1000" dirty="0">
                <a:solidFill>
                  <a:srgbClr val="546E7A"/>
                </a:solidFill>
              </a:rPr>
              <a:t>Score: 87%  •  KES 130/kg</a:t>
            </a:r>
            <a:endParaRPr lang="en-US" sz="1000" dirty="0"/>
          </a:p>
        </p:txBody>
      </p:sp>
      <p:sp>
        <p:nvSpPr>
          <p:cNvPr id="22" name="Text 20"/>
          <p:cNvSpPr/>
          <p:nvPr/>
        </p:nvSpPr>
        <p:spPr>
          <a:xfrm>
            <a:off x="4937760" y="3566160"/>
            <a:ext cx="2743200" cy="365760"/>
          </a:xfrm>
          <a:prstGeom prst="rect">
            <a:avLst/>
          </a:prstGeom>
          <a:noFill/>
          <a:ln/>
        </p:spPr>
        <p:txBody>
          <a:bodyPr wrap="square" rtlCol="0" anchor="ctr"/>
          <a:lstStyle/>
          <a:p>
            <a:pPr indent="0" marL="0">
              <a:buNone/>
            </a:pPr>
            <a:r>
              <a:rPr lang="en-US" sz="1250" b="1" dirty="0">
                <a:solidFill>
                  <a:srgbClr val="263238"/>
                </a:solidFill>
              </a:rPr>
              <a:t>🥉 Kale (Sukuma)</a:t>
            </a:r>
            <a:endParaRPr lang="en-US" sz="1250" dirty="0"/>
          </a:p>
        </p:txBody>
      </p:sp>
      <p:sp>
        <p:nvSpPr>
          <p:cNvPr id="23" name="Text 21"/>
          <p:cNvSpPr/>
          <p:nvPr/>
        </p:nvSpPr>
        <p:spPr>
          <a:xfrm>
            <a:off x="4937760" y="3867912"/>
            <a:ext cx="3657600" cy="256032"/>
          </a:xfrm>
          <a:prstGeom prst="rect">
            <a:avLst/>
          </a:prstGeom>
          <a:noFill/>
          <a:ln/>
        </p:spPr>
        <p:txBody>
          <a:bodyPr wrap="square" rtlCol="0" anchor="ctr"/>
          <a:lstStyle/>
          <a:p>
            <a:pPr indent="0" marL="0">
              <a:buNone/>
            </a:pPr>
            <a:r>
              <a:rPr lang="en-US" sz="1000" dirty="0">
                <a:solidFill>
                  <a:srgbClr val="546E7A"/>
                </a:solidFill>
              </a:rPr>
              <a:t>Score: 87%  •  KES 91/kg</a:t>
            </a:r>
            <a:endParaRPr lang="en-US" sz="1000" dirty="0"/>
          </a:p>
        </p:txBody>
      </p:sp>
      <p:sp>
        <p:nvSpPr>
          <p:cNvPr id="24" name="Text 22"/>
          <p:cNvSpPr/>
          <p:nvPr/>
        </p:nvSpPr>
        <p:spPr>
          <a:xfrm>
            <a:off x="4937760" y="4251960"/>
            <a:ext cx="3657600" cy="457200"/>
          </a:xfrm>
          <a:prstGeom prst="rect">
            <a:avLst/>
          </a:prstGeom>
          <a:noFill/>
          <a:ln/>
        </p:spPr>
        <p:txBody>
          <a:bodyPr wrap="square" rtlCol="0" anchor="ctr"/>
          <a:lstStyle/>
          <a:p>
            <a:pPr indent="0" marL="0">
              <a:lnSpc>
                <a:spcPct val="120000"/>
              </a:lnSpc>
              <a:buNone/>
            </a:pPr>
            <a:r>
              <a:rPr lang="en-US" sz="1000" dirty="0">
                <a:solidFill>
                  <a:srgbClr val="2E7D32"/>
                </a:solidFill>
              </a:rPr>
              <a:t>Cool highland crops matched to temperature</a:t>
            </a:r>
            <a:endParaRPr lang="en-US" sz="1000" dirty="0"/>
          </a:p>
          <a:p>
            <a:pPr indent="0" marL="0">
              <a:lnSpc>
                <a:spcPct val="120000"/>
              </a:lnSpc>
              <a:buNone/>
            </a:pPr>
            <a:r>
              <a:rPr lang="en-US" sz="1000" dirty="0">
                <a:solidFill>
                  <a:srgbClr val="2E7D32"/>
                </a:solidFill>
              </a:rPr>
              <a:t>and rainfall — different county, different crops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F9A825"/>
          </a:solidFill>
          <a:ln w="12700">
            <a:solidFill>
              <a:srgbClr val="F9A825"/>
            </a:solidFill>
            <a:prstDash val="solid"/>
          </a:ln>
        </p:spPr>
      </p:sp>
      <p:sp>
        <p:nvSpPr>
          <p:cNvPr id="3" name="Text 1"/>
          <p:cNvSpPr/>
          <p:nvPr/>
        </p:nvSpPr>
        <p:spPr>
          <a:xfrm>
            <a:off x="274320" y="109728"/>
            <a:ext cx="8595360" cy="694944"/>
          </a:xfrm>
          <a:prstGeom prst="rect">
            <a:avLst/>
          </a:prstGeom>
          <a:noFill/>
          <a:ln/>
        </p:spPr>
        <p:txBody>
          <a:bodyPr wrap="square" rtlCol="0" anchor="ctr"/>
          <a:lstStyle/>
          <a:p>
            <a:pPr indent="0" marL="0">
              <a:buNone/>
            </a:pPr>
            <a:r>
              <a:rPr lang="en-US" sz="2500" b="1" dirty="0">
                <a:solidFill>
                  <a:srgbClr val="263238"/>
                </a:solidFill>
              </a:rPr>
              <a:t>📰  Module 4 — Agricultural News Sentiment Analysis</a:t>
            </a:r>
            <a:endParaRPr lang="en-US" sz="2500" dirty="0"/>
          </a:p>
        </p:txBody>
      </p:sp>
      <p:sp>
        <p:nvSpPr>
          <p:cNvPr id="4" name="Shape 2"/>
          <p:cNvSpPr/>
          <p:nvPr/>
        </p:nvSpPr>
        <p:spPr>
          <a:xfrm>
            <a:off x="365760" y="1005840"/>
            <a:ext cx="1737360" cy="1188720"/>
          </a:xfrm>
          <a:prstGeom prst="rect">
            <a:avLst/>
          </a:prstGeom>
          <a:solidFill>
            <a:srgbClr val="66BB6A"/>
          </a:solidFill>
          <a:ln w="12700">
            <a:solidFill>
              <a:srgbClr val="66BB6A"/>
            </a:solidFill>
            <a:prstDash val="solid"/>
          </a:ln>
          <a:effectLst>
            <a:outerShdw sx="100000" sy="100000" kx="0" ky="0" algn="bl" rotWithShape="0" blurRad="101600" dist="38100" dir="8100000">
              <a:srgbClr val="000000">
                <a:alpha val="12000"/>
              </a:srgbClr>
            </a:outerShdw>
          </a:effectLst>
        </p:spPr>
      </p:sp>
      <p:sp>
        <p:nvSpPr>
          <p:cNvPr id="5" name="Text 3"/>
          <p:cNvSpPr/>
          <p:nvPr/>
        </p:nvSpPr>
        <p:spPr>
          <a:xfrm>
            <a:off x="365760" y="1078992"/>
            <a:ext cx="1737360" cy="548640"/>
          </a:xfrm>
          <a:prstGeom prst="rect">
            <a:avLst/>
          </a:prstGeom>
          <a:noFill/>
          <a:ln/>
        </p:spPr>
        <p:txBody>
          <a:bodyPr wrap="square" rtlCol="0" anchor="ctr"/>
          <a:lstStyle/>
          <a:p>
            <a:pPr algn="ctr" indent="0" marL="0">
              <a:buNone/>
            </a:pPr>
            <a:r>
              <a:rPr lang="en-US" sz="3000" b="1" dirty="0">
                <a:solidFill>
                  <a:srgbClr val="FFFFFF"/>
                </a:solidFill>
              </a:rPr>
              <a:t>142</a:t>
            </a:r>
            <a:endParaRPr lang="en-US" sz="3000" dirty="0"/>
          </a:p>
        </p:txBody>
      </p:sp>
      <p:sp>
        <p:nvSpPr>
          <p:cNvPr id="6" name="Text 4"/>
          <p:cNvSpPr/>
          <p:nvPr/>
        </p:nvSpPr>
        <p:spPr>
          <a:xfrm>
            <a:off x="365760" y="1627632"/>
            <a:ext cx="1737360" cy="274320"/>
          </a:xfrm>
          <a:prstGeom prst="rect">
            <a:avLst/>
          </a:prstGeom>
          <a:noFill/>
          <a:ln/>
        </p:spPr>
        <p:txBody>
          <a:bodyPr wrap="square" rtlCol="0" anchor="ctr"/>
          <a:lstStyle/>
          <a:p>
            <a:pPr algn="ctr" indent="0" marL="0">
              <a:buNone/>
            </a:pPr>
            <a:r>
              <a:rPr lang="en-US" sz="1100" dirty="0">
                <a:solidFill>
                  <a:srgbClr val="FFFFFF"/>
                </a:solidFill>
              </a:rPr>
              <a:t>Positive</a:t>
            </a:r>
            <a:endParaRPr lang="en-US" sz="1100" dirty="0"/>
          </a:p>
        </p:txBody>
      </p:sp>
      <p:sp>
        <p:nvSpPr>
          <p:cNvPr id="7" name="Text 5"/>
          <p:cNvSpPr/>
          <p:nvPr/>
        </p:nvSpPr>
        <p:spPr>
          <a:xfrm>
            <a:off x="365760" y="1874520"/>
            <a:ext cx="1737360" cy="256032"/>
          </a:xfrm>
          <a:prstGeom prst="rect">
            <a:avLst/>
          </a:prstGeom>
          <a:noFill/>
          <a:ln/>
        </p:spPr>
        <p:txBody>
          <a:bodyPr wrap="square" rtlCol="0" anchor="ctr"/>
          <a:lstStyle/>
          <a:p>
            <a:pPr algn="ctr" indent="0" marL="0">
              <a:buNone/>
            </a:pPr>
            <a:r>
              <a:rPr lang="en-US" sz="1000" dirty="0">
                <a:solidFill>
                  <a:srgbClr val="FFFFFF"/>
                </a:solidFill>
              </a:rPr>
              <a:t>47.3%</a:t>
            </a:r>
            <a:endParaRPr lang="en-US" sz="1000" dirty="0"/>
          </a:p>
        </p:txBody>
      </p:sp>
      <p:sp>
        <p:nvSpPr>
          <p:cNvPr id="8" name="Shape 6"/>
          <p:cNvSpPr/>
          <p:nvPr/>
        </p:nvSpPr>
        <p:spPr>
          <a:xfrm>
            <a:off x="2286000" y="1005840"/>
            <a:ext cx="1737360" cy="1188720"/>
          </a:xfrm>
          <a:prstGeom prst="rect">
            <a:avLst/>
          </a:prstGeom>
          <a:solidFill>
            <a:srgbClr val="90A4AE"/>
          </a:solidFill>
          <a:ln w="12700">
            <a:solidFill>
              <a:srgbClr val="90A4AE"/>
            </a:solidFill>
            <a:prstDash val="solid"/>
          </a:ln>
          <a:effectLst>
            <a:outerShdw sx="100000" sy="100000" kx="0" ky="0" algn="bl" rotWithShape="0" blurRad="101600" dist="38100" dir="8100000">
              <a:srgbClr val="000000">
                <a:alpha val="12000"/>
              </a:srgbClr>
            </a:outerShdw>
          </a:effectLst>
        </p:spPr>
      </p:sp>
      <p:sp>
        <p:nvSpPr>
          <p:cNvPr id="9" name="Text 7"/>
          <p:cNvSpPr/>
          <p:nvPr/>
        </p:nvSpPr>
        <p:spPr>
          <a:xfrm>
            <a:off x="2286000" y="1078992"/>
            <a:ext cx="1737360" cy="548640"/>
          </a:xfrm>
          <a:prstGeom prst="rect">
            <a:avLst/>
          </a:prstGeom>
          <a:noFill/>
          <a:ln/>
        </p:spPr>
        <p:txBody>
          <a:bodyPr wrap="square" rtlCol="0" anchor="ctr"/>
          <a:lstStyle/>
          <a:p>
            <a:pPr algn="ctr" indent="0" marL="0">
              <a:buNone/>
            </a:pPr>
            <a:r>
              <a:rPr lang="en-US" sz="3000" b="1" dirty="0">
                <a:solidFill>
                  <a:srgbClr val="FFFFFF"/>
                </a:solidFill>
              </a:rPr>
              <a:t>128</a:t>
            </a:r>
            <a:endParaRPr lang="en-US" sz="3000" dirty="0"/>
          </a:p>
        </p:txBody>
      </p:sp>
      <p:sp>
        <p:nvSpPr>
          <p:cNvPr id="10" name="Text 8"/>
          <p:cNvSpPr/>
          <p:nvPr/>
        </p:nvSpPr>
        <p:spPr>
          <a:xfrm>
            <a:off x="2286000" y="1627632"/>
            <a:ext cx="1737360" cy="274320"/>
          </a:xfrm>
          <a:prstGeom prst="rect">
            <a:avLst/>
          </a:prstGeom>
          <a:noFill/>
          <a:ln/>
        </p:spPr>
        <p:txBody>
          <a:bodyPr wrap="square" rtlCol="0" anchor="ctr"/>
          <a:lstStyle/>
          <a:p>
            <a:pPr algn="ctr" indent="0" marL="0">
              <a:buNone/>
            </a:pPr>
            <a:r>
              <a:rPr lang="en-US" sz="1100" dirty="0">
                <a:solidFill>
                  <a:srgbClr val="FFFFFF"/>
                </a:solidFill>
              </a:rPr>
              <a:t>Neutral</a:t>
            </a:r>
            <a:endParaRPr lang="en-US" sz="1100" dirty="0"/>
          </a:p>
        </p:txBody>
      </p:sp>
      <p:sp>
        <p:nvSpPr>
          <p:cNvPr id="11" name="Text 9"/>
          <p:cNvSpPr/>
          <p:nvPr/>
        </p:nvSpPr>
        <p:spPr>
          <a:xfrm>
            <a:off x="2286000" y="1874520"/>
            <a:ext cx="1737360" cy="256032"/>
          </a:xfrm>
          <a:prstGeom prst="rect">
            <a:avLst/>
          </a:prstGeom>
          <a:noFill/>
          <a:ln/>
        </p:spPr>
        <p:txBody>
          <a:bodyPr wrap="square" rtlCol="0" anchor="ctr"/>
          <a:lstStyle/>
          <a:p>
            <a:pPr algn="ctr" indent="0" marL="0">
              <a:buNone/>
            </a:pPr>
            <a:r>
              <a:rPr lang="en-US" sz="1000" dirty="0">
                <a:solidFill>
                  <a:srgbClr val="FFFFFF"/>
                </a:solidFill>
              </a:rPr>
              <a:t>42.7%</a:t>
            </a:r>
            <a:endParaRPr lang="en-US" sz="1000" dirty="0"/>
          </a:p>
        </p:txBody>
      </p:sp>
      <p:sp>
        <p:nvSpPr>
          <p:cNvPr id="12" name="Shape 10"/>
          <p:cNvSpPr/>
          <p:nvPr/>
        </p:nvSpPr>
        <p:spPr>
          <a:xfrm>
            <a:off x="4206240" y="1005840"/>
            <a:ext cx="1737360" cy="1188720"/>
          </a:xfrm>
          <a:prstGeom prst="rect">
            <a:avLst/>
          </a:prstGeom>
          <a:solidFill>
            <a:srgbClr val="C62828"/>
          </a:solidFill>
          <a:ln w="12700">
            <a:solidFill>
              <a:srgbClr val="C62828"/>
            </a:solidFill>
            <a:prstDash val="solid"/>
          </a:ln>
          <a:effectLst>
            <a:outerShdw sx="100000" sy="100000" kx="0" ky="0" algn="bl" rotWithShape="0" blurRad="101600" dist="38100" dir="8100000">
              <a:srgbClr val="000000">
                <a:alpha val="12000"/>
              </a:srgbClr>
            </a:outerShdw>
          </a:effectLst>
        </p:spPr>
      </p:sp>
      <p:sp>
        <p:nvSpPr>
          <p:cNvPr id="13" name="Text 11"/>
          <p:cNvSpPr/>
          <p:nvPr/>
        </p:nvSpPr>
        <p:spPr>
          <a:xfrm>
            <a:off x="4206240" y="1078992"/>
            <a:ext cx="1737360" cy="548640"/>
          </a:xfrm>
          <a:prstGeom prst="rect">
            <a:avLst/>
          </a:prstGeom>
          <a:noFill/>
          <a:ln/>
        </p:spPr>
        <p:txBody>
          <a:bodyPr wrap="square" rtlCol="0" anchor="ctr"/>
          <a:lstStyle/>
          <a:p>
            <a:pPr algn="ctr" indent="0" marL="0">
              <a:buNone/>
            </a:pPr>
            <a:r>
              <a:rPr lang="en-US" sz="3000" b="1" dirty="0">
                <a:solidFill>
                  <a:srgbClr val="FFFFFF"/>
                </a:solidFill>
              </a:rPr>
              <a:t>30</a:t>
            </a:r>
            <a:endParaRPr lang="en-US" sz="3000" dirty="0"/>
          </a:p>
        </p:txBody>
      </p:sp>
      <p:sp>
        <p:nvSpPr>
          <p:cNvPr id="14" name="Text 12"/>
          <p:cNvSpPr/>
          <p:nvPr/>
        </p:nvSpPr>
        <p:spPr>
          <a:xfrm>
            <a:off x="4206240" y="1627632"/>
            <a:ext cx="1737360" cy="274320"/>
          </a:xfrm>
          <a:prstGeom prst="rect">
            <a:avLst/>
          </a:prstGeom>
          <a:noFill/>
          <a:ln/>
        </p:spPr>
        <p:txBody>
          <a:bodyPr wrap="square" rtlCol="0" anchor="ctr"/>
          <a:lstStyle/>
          <a:p>
            <a:pPr algn="ctr" indent="0" marL="0">
              <a:buNone/>
            </a:pPr>
            <a:r>
              <a:rPr lang="en-US" sz="1100" dirty="0">
                <a:solidFill>
                  <a:srgbClr val="FFFFFF"/>
                </a:solidFill>
              </a:rPr>
              <a:t>Negative</a:t>
            </a:r>
            <a:endParaRPr lang="en-US" sz="1100" dirty="0"/>
          </a:p>
        </p:txBody>
      </p:sp>
      <p:sp>
        <p:nvSpPr>
          <p:cNvPr id="15" name="Text 13"/>
          <p:cNvSpPr/>
          <p:nvPr/>
        </p:nvSpPr>
        <p:spPr>
          <a:xfrm>
            <a:off x="4206240" y="1874520"/>
            <a:ext cx="1737360" cy="256032"/>
          </a:xfrm>
          <a:prstGeom prst="rect">
            <a:avLst/>
          </a:prstGeom>
          <a:noFill/>
          <a:ln/>
        </p:spPr>
        <p:txBody>
          <a:bodyPr wrap="square" rtlCol="0" anchor="ctr"/>
          <a:lstStyle/>
          <a:p>
            <a:pPr algn="ctr" indent="0" marL="0">
              <a:buNone/>
            </a:pPr>
            <a:r>
              <a:rPr lang="en-US" sz="1000" dirty="0">
                <a:solidFill>
                  <a:srgbClr val="FFFFFF"/>
                </a:solidFill>
              </a:rPr>
              <a:t>10.0%</a:t>
            </a:r>
            <a:endParaRPr lang="en-US" sz="1000" dirty="0"/>
          </a:p>
        </p:txBody>
      </p:sp>
      <p:graphicFrame>
        <p:nvGraphicFramePr>
          <p:cNvPr id="16" name="Chart 0" descr=""/>
          <p:cNvGraphicFramePr/>
          <p:nvPr/>
        </p:nvGraphicFramePr>
        <p:xfrm>
          <a:off x="5943600" y="960120"/>
          <a:ext cx="3017520" cy="3840480"/>
        </p:xfrm>
        <a:graphic xmlns:a="http://schemas.openxmlformats.org/drawingml/2006/main">
          <a:graphicData uri="http://schemas.openxmlformats.org/drawingml/2006/chart">
            <c:chart xmlns:c="http://schemas.openxmlformats.org/drawingml/2006/chart" r:id="rId1"/>
          </a:graphicData>
        </a:graphic>
      </p:graphicFrame>
      <p:sp>
        <p:nvSpPr>
          <p:cNvPr id="17" name="Text 14"/>
          <p:cNvSpPr/>
          <p:nvPr/>
        </p:nvSpPr>
        <p:spPr>
          <a:xfrm>
            <a:off x="365760" y="2331720"/>
            <a:ext cx="3200400" cy="274320"/>
          </a:xfrm>
          <a:prstGeom prst="rect">
            <a:avLst/>
          </a:prstGeom>
          <a:noFill/>
          <a:ln/>
        </p:spPr>
        <p:txBody>
          <a:bodyPr wrap="square" rtlCol="0" anchor="ctr"/>
          <a:lstStyle/>
          <a:p>
            <a:pPr indent="0" marL="0">
              <a:buNone/>
            </a:pPr>
            <a:r>
              <a:rPr lang="en-US" sz="1150" b="1" dirty="0">
                <a:solidFill>
                  <a:srgbClr val="263238"/>
                </a:solidFill>
              </a:rPr>
              <a:t>Government Programmes</a:t>
            </a:r>
            <a:endParaRPr lang="en-US" sz="1150" dirty="0"/>
          </a:p>
        </p:txBody>
      </p:sp>
      <p:sp>
        <p:nvSpPr>
          <p:cNvPr id="18" name="Text 15"/>
          <p:cNvSpPr/>
          <p:nvPr/>
        </p:nvSpPr>
        <p:spPr>
          <a:xfrm>
            <a:off x="365760" y="2606040"/>
            <a:ext cx="5303520" cy="256032"/>
          </a:xfrm>
          <a:prstGeom prst="rect">
            <a:avLst/>
          </a:prstGeom>
          <a:noFill/>
          <a:ln/>
        </p:spPr>
        <p:txBody>
          <a:bodyPr wrap="square" rtlCol="0" anchor="ctr"/>
          <a:lstStyle/>
          <a:p>
            <a:pPr indent="0" marL="0">
              <a:buNone/>
            </a:pPr>
            <a:r>
              <a:rPr lang="en-US" sz="1000" dirty="0">
                <a:solidFill>
                  <a:srgbClr val="546E7A"/>
                </a:solidFill>
              </a:rPr>
              <a:t>Score: 0.42  •  Most positive topic</a:t>
            </a:r>
            <a:endParaRPr lang="en-US" sz="1000" dirty="0"/>
          </a:p>
        </p:txBody>
      </p:sp>
      <p:sp>
        <p:nvSpPr>
          <p:cNvPr id="19" name="Text 16"/>
          <p:cNvSpPr/>
          <p:nvPr/>
        </p:nvSpPr>
        <p:spPr>
          <a:xfrm>
            <a:off x="365760" y="2926080"/>
            <a:ext cx="3200400" cy="274320"/>
          </a:xfrm>
          <a:prstGeom prst="rect">
            <a:avLst/>
          </a:prstGeom>
          <a:noFill/>
          <a:ln/>
        </p:spPr>
        <p:txBody>
          <a:bodyPr wrap="square" rtlCol="0" anchor="ctr"/>
          <a:lstStyle/>
          <a:p>
            <a:pPr indent="0" marL="0">
              <a:buNone/>
            </a:pPr>
            <a:r>
              <a:rPr lang="en-US" sz="1150" b="1" dirty="0">
                <a:solidFill>
                  <a:srgbClr val="263238"/>
                </a:solidFill>
              </a:rPr>
              <a:t>Soil &amp; Yield Improvement</a:t>
            </a:r>
            <a:endParaRPr lang="en-US" sz="1150" dirty="0"/>
          </a:p>
        </p:txBody>
      </p:sp>
      <p:sp>
        <p:nvSpPr>
          <p:cNvPr id="20" name="Text 17"/>
          <p:cNvSpPr/>
          <p:nvPr/>
        </p:nvSpPr>
        <p:spPr>
          <a:xfrm>
            <a:off x="365760" y="3200400"/>
            <a:ext cx="5303520" cy="256032"/>
          </a:xfrm>
          <a:prstGeom prst="rect">
            <a:avLst/>
          </a:prstGeom>
          <a:noFill/>
          <a:ln/>
        </p:spPr>
        <p:txBody>
          <a:bodyPr wrap="square" rtlCol="0" anchor="ctr"/>
          <a:lstStyle/>
          <a:p>
            <a:pPr indent="0" marL="0">
              <a:buNone/>
            </a:pPr>
            <a:r>
              <a:rPr lang="en-US" sz="1000" dirty="0">
                <a:solidFill>
                  <a:srgbClr val="546E7A"/>
                </a:solidFill>
              </a:rPr>
              <a:t>Score: 0.32  •  Second most positive</a:t>
            </a:r>
            <a:endParaRPr lang="en-US" sz="1000" dirty="0"/>
          </a:p>
        </p:txBody>
      </p:sp>
      <p:sp>
        <p:nvSpPr>
          <p:cNvPr id="21" name="Text 18"/>
          <p:cNvSpPr/>
          <p:nvPr/>
        </p:nvSpPr>
        <p:spPr>
          <a:xfrm>
            <a:off x="365760" y="3520440"/>
            <a:ext cx="3200400" cy="274320"/>
          </a:xfrm>
          <a:prstGeom prst="rect">
            <a:avLst/>
          </a:prstGeom>
          <a:noFill/>
          <a:ln/>
        </p:spPr>
        <p:txBody>
          <a:bodyPr wrap="square" rtlCol="0" anchor="ctr"/>
          <a:lstStyle/>
          <a:p>
            <a:pPr indent="0" marL="0">
              <a:buNone/>
            </a:pPr>
            <a:r>
              <a:rPr lang="en-US" sz="1150" b="1" dirty="0">
                <a:solidFill>
                  <a:srgbClr val="263238"/>
                </a:solidFill>
              </a:rPr>
              <a:t>Dairy &amp; Macadamia</a:t>
            </a:r>
            <a:endParaRPr lang="en-US" sz="1150" dirty="0"/>
          </a:p>
        </p:txBody>
      </p:sp>
      <p:sp>
        <p:nvSpPr>
          <p:cNvPr id="22" name="Text 19"/>
          <p:cNvSpPr/>
          <p:nvPr/>
        </p:nvSpPr>
        <p:spPr>
          <a:xfrm>
            <a:off x="365760" y="3794760"/>
            <a:ext cx="5303520" cy="256032"/>
          </a:xfrm>
          <a:prstGeom prst="rect">
            <a:avLst/>
          </a:prstGeom>
          <a:noFill/>
          <a:ln/>
        </p:spPr>
        <p:txBody>
          <a:bodyPr wrap="square" rtlCol="0" anchor="ctr"/>
          <a:lstStyle/>
          <a:p>
            <a:pPr indent="0" marL="0">
              <a:buNone/>
            </a:pPr>
            <a:r>
              <a:rPr lang="en-US" sz="1000" dirty="0">
                <a:solidFill>
                  <a:srgbClr val="546E7A"/>
                </a:solidFill>
              </a:rPr>
              <a:t>Score: 0.11  •  Most negative — macadamia export ban</a:t>
            </a:r>
            <a:endParaRPr lang="en-US" sz="1000" dirty="0"/>
          </a:p>
        </p:txBody>
      </p:sp>
      <p:sp>
        <p:nvSpPr>
          <p:cNvPr id="23" name="Text 20"/>
          <p:cNvSpPr/>
          <p:nvPr/>
        </p:nvSpPr>
        <p:spPr>
          <a:xfrm>
            <a:off x="365760" y="4114800"/>
            <a:ext cx="3200400" cy="274320"/>
          </a:xfrm>
          <a:prstGeom prst="rect">
            <a:avLst/>
          </a:prstGeom>
          <a:noFill/>
          <a:ln/>
        </p:spPr>
        <p:txBody>
          <a:bodyPr wrap="square" rtlCol="0" anchor="ctr"/>
          <a:lstStyle/>
          <a:p>
            <a:pPr indent="0" marL="0">
              <a:buNone/>
            </a:pPr>
            <a:r>
              <a:rPr lang="en-US" sz="1150" b="1" dirty="0">
                <a:solidFill>
                  <a:srgbClr val="263238"/>
                </a:solidFill>
              </a:rPr>
              <a:t>Mean VADER Score</a:t>
            </a:r>
            <a:endParaRPr lang="en-US" sz="1150" dirty="0"/>
          </a:p>
        </p:txBody>
      </p:sp>
      <p:sp>
        <p:nvSpPr>
          <p:cNvPr id="24" name="Text 21"/>
          <p:cNvSpPr/>
          <p:nvPr/>
        </p:nvSpPr>
        <p:spPr>
          <a:xfrm>
            <a:off x="365760" y="4389120"/>
            <a:ext cx="5303520" cy="256032"/>
          </a:xfrm>
          <a:prstGeom prst="rect">
            <a:avLst/>
          </a:prstGeom>
          <a:noFill/>
          <a:ln/>
        </p:spPr>
        <p:txBody>
          <a:bodyPr wrap="square" rtlCol="0" anchor="ctr"/>
          <a:lstStyle/>
          <a:p>
            <a:pPr indent="0" marL="0">
              <a:buNone/>
            </a:pPr>
            <a:r>
              <a:rPr lang="en-US" sz="1000" dirty="0">
                <a:solidFill>
                  <a:srgbClr val="546E7A"/>
                </a:solidFill>
              </a:rPr>
              <a:t>Score: 0.174  •  Net positive overall</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5E20"/>
        </a:solidFill>
      </p:bgPr>
    </p:bg>
    <p:spTree>
      <p:nvGrpSpPr>
        <p:cNvPr id="1" name=""/>
        <p:cNvGrpSpPr/>
        <p:nvPr/>
      </p:nvGrpSpPr>
      <p:grpSpPr>
        <a:xfrm>
          <a:off x="0" y="0"/>
          <a:ext cx="0" cy="0"/>
          <a:chOff x="0" y="0"/>
          <a:chExt cx="0" cy="0"/>
        </a:xfrm>
      </p:grpSpPr>
      <p:sp>
        <p:nvSpPr>
          <p:cNvPr id="2" name="Text 0"/>
          <p:cNvSpPr/>
          <p:nvPr/>
        </p:nvSpPr>
        <p:spPr>
          <a:xfrm>
            <a:off x="274320" y="137160"/>
            <a:ext cx="8595360" cy="640080"/>
          </a:xfrm>
          <a:prstGeom prst="rect">
            <a:avLst/>
          </a:prstGeom>
          <a:noFill/>
          <a:ln/>
        </p:spPr>
        <p:txBody>
          <a:bodyPr wrap="square" rtlCol="0" anchor="ctr"/>
          <a:lstStyle/>
          <a:p>
            <a:pPr indent="0" marL="0">
              <a:buNone/>
            </a:pPr>
            <a:r>
              <a:rPr lang="en-US" sz="3000" b="1" dirty="0">
                <a:solidFill>
                  <a:srgbClr val="FFFFFF"/>
                </a:solidFill>
              </a:rPr>
              <a:t>💡  Key Findings &amp; Recommendations</a:t>
            </a:r>
            <a:endParaRPr lang="en-US" sz="3000" dirty="0"/>
          </a:p>
        </p:txBody>
      </p:sp>
      <p:sp>
        <p:nvSpPr>
          <p:cNvPr id="3" name="Shape 1"/>
          <p:cNvSpPr/>
          <p:nvPr/>
        </p:nvSpPr>
        <p:spPr>
          <a:xfrm>
            <a:off x="274320" y="914400"/>
            <a:ext cx="109728" cy="658368"/>
          </a:xfrm>
          <a:prstGeom prst="rect">
            <a:avLst/>
          </a:prstGeom>
          <a:solidFill>
            <a:srgbClr val="C62828"/>
          </a:solidFill>
          <a:ln w="12700">
            <a:solidFill>
              <a:srgbClr val="C62828"/>
            </a:solidFill>
            <a:prstDash val="solid"/>
          </a:ln>
        </p:spPr>
      </p:sp>
      <p:sp>
        <p:nvSpPr>
          <p:cNvPr id="4" name="Text 2"/>
          <p:cNvSpPr/>
          <p:nvPr/>
        </p:nvSpPr>
        <p:spPr>
          <a:xfrm>
            <a:off x="502920" y="932688"/>
            <a:ext cx="8229600" cy="274320"/>
          </a:xfrm>
          <a:prstGeom prst="rect">
            <a:avLst/>
          </a:prstGeom>
          <a:noFill/>
          <a:ln/>
        </p:spPr>
        <p:txBody>
          <a:bodyPr wrap="square" rtlCol="0" anchor="ctr"/>
          <a:lstStyle/>
          <a:p>
            <a:pPr indent="0" marL="0">
              <a:buNone/>
            </a:pPr>
            <a:r>
              <a:rPr lang="en-US" sz="1300" b="1" dirty="0">
                <a:solidFill>
                  <a:srgbClr val="FFFFFF"/>
                </a:solidFill>
              </a:rPr>
              <a:t>12 counties in Phase 3 Crisis</a:t>
            </a:r>
            <a:endParaRPr lang="en-US" sz="1300" dirty="0"/>
          </a:p>
        </p:txBody>
      </p:sp>
      <p:sp>
        <p:nvSpPr>
          <p:cNvPr id="5" name="Text 3"/>
          <p:cNvSpPr/>
          <p:nvPr/>
        </p:nvSpPr>
        <p:spPr>
          <a:xfrm>
            <a:off x="502920" y="1234440"/>
            <a:ext cx="8229600" cy="320040"/>
          </a:xfrm>
          <a:prstGeom prst="rect">
            <a:avLst/>
          </a:prstGeom>
          <a:noFill/>
          <a:ln/>
        </p:spPr>
        <p:txBody>
          <a:bodyPr wrap="square" rtlCol="0" anchor="ctr"/>
          <a:lstStyle/>
          <a:p>
            <a:pPr indent="0" marL="0">
              <a:lnSpc>
                <a:spcPct val="120000"/>
              </a:lnSpc>
              <a:buNone/>
            </a:pPr>
            <a:r>
              <a:rPr lang="en-US" sz="1100" dirty="0">
                <a:solidFill>
                  <a:srgbClr val="B2DFDB"/>
                </a:solidFill>
              </a:rPr>
              <a:t>Prioritise Turkana, Garissa, Wajir, Mandera, Marsabit for immediate food aid and cash transfer interventions.</a:t>
            </a:r>
            <a:endParaRPr lang="en-US" sz="1100" dirty="0"/>
          </a:p>
        </p:txBody>
      </p:sp>
      <p:sp>
        <p:nvSpPr>
          <p:cNvPr id="6" name="Shape 4"/>
          <p:cNvSpPr/>
          <p:nvPr/>
        </p:nvSpPr>
        <p:spPr>
          <a:xfrm>
            <a:off x="274320" y="1737360"/>
            <a:ext cx="109728" cy="658368"/>
          </a:xfrm>
          <a:prstGeom prst="rect">
            <a:avLst/>
          </a:prstGeom>
          <a:solidFill>
            <a:srgbClr val="E65100"/>
          </a:solidFill>
          <a:ln w="12700">
            <a:solidFill>
              <a:srgbClr val="E65100"/>
            </a:solidFill>
            <a:prstDash val="solid"/>
          </a:ln>
        </p:spPr>
      </p:sp>
      <p:sp>
        <p:nvSpPr>
          <p:cNvPr id="7" name="Text 5"/>
          <p:cNvSpPr/>
          <p:nvPr/>
        </p:nvSpPr>
        <p:spPr>
          <a:xfrm>
            <a:off x="502920" y="1755648"/>
            <a:ext cx="8229600" cy="274320"/>
          </a:xfrm>
          <a:prstGeom prst="rect">
            <a:avLst/>
          </a:prstGeom>
          <a:noFill/>
          <a:ln/>
        </p:spPr>
        <p:txBody>
          <a:bodyPr wrap="square" rtlCol="0" anchor="ctr"/>
          <a:lstStyle/>
          <a:p>
            <a:pPr indent="0" marL="0">
              <a:buNone/>
            </a:pPr>
            <a:r>
              <a:rPr lang="en-US" sz="1300" b="1" dirty="0">
                <a:solidFill>
                  <a:srgbClr val="FFFFFF"/>
                </a:solidFill>
              </a:rPr>
              <a:t>NASA SPI-3 predicts food crises months in advance</a:t>
            </a:r>
            <a:endParaRPr lang="en-US" sz="1300" dirty="0"/>
          </a:p>
        </p:txBody>
      </p:sp>
      <p:sp>
        <p:nvSpPr>
          <p:cNvPr id="8" name="Text 6"/>
          <p:cNvSpPr/>
          <p:nvPr/>
        </p:nvSpPr>
        <p:spPr>
          <a:xfrm>
            <a:off x="502920" y="2057400"/>
            <a:ext cx="8229600" cy="320040"/>
          </a:xfrm>
          <a:prstGeom prst="rect">
            <a:avLst/>
          </a:prstGeom>
          <a:noFill/>
          <a:ln/>
        </p:spPr>
        <p:txBody>
          <a:bodyPr wrap="square" rtlCol="0" anchor="ctr"/>
          <a:lstStyle/>
          <a:p>
            <a:pPr indent="0" marL="0">
              <a:lnSpc>
                <a:spcPct val="120000"/>
              </a:lnSpc>
              <a:buNone/>
            </a:pPr>
            <a:r>
              <a:rPr lang="en-US" sz="1100" dirty="0">
                <a:solidFill>
                  <a:srgbClr val="B2DFDB"/>
                </a:solidFill>
              </a:rPr>
              <a:t>Deploy automated monthly drought alerts to county agricultural officers when SPI-3 drops below -1.0.</a:t>
            </a:r>
            <a:endParaRPr lang="en-US" sz="1100" dirty="0"/>
          </a:p>
        </p:txBody>
      </p:sp>
      <p:sp>
        <p:nvSpPr>
          <p:cNvPr id="9" name="Shape 7"/>
          <p:cNvSpPr/>
          <p:nvPr/>
        </p:nvSpPr>
        <p:spPr>
          <a:xfrm>
            <a:off x="274320" y="2560320"/>
            <a:ext cx="109728" cy="658368"/>
          </a:xfrm>
          <a:prstGeom prst="rect">
            <a:avLst/>
          </a:prstGeom>
          <a:solidFill>
            <a:srgbClr val="F9A825"/>
          </a:solidFill>
          <a:ln w="12700">
            <a:solidFill>
              <a:srgbClr val="F9A825"/>
            </a:solidFill>
            <a:prstDash val="solid"/>
          </a:ln>
        </p:spPr>
      </p:sp>
      <p:sp>
        <p:nvSpPr>
          <p:cNvPr id="10" name="Text 8"/>
          <p:cNvSpPr/>
          <p:nvPr/>
        </p:nvSpPr>
        <p:spPr>
          <a:xfrm>
            <a:off x="502920" y="2578608"/>
            <a:ext cx="8229600" cy="274320"/>
          </a:xfrm>
          <a:prstGeom prst="rect">
            <a:avLst/>
          </a:prstGeom>
          <a:noFill/>
          <a:ln/>
        </p:spPr>
        <p:txBody>
          <a:bodyPr wrap="square" rtlCol="0" anchor="ctr"/>
          <a:lstStyle/>
          <a:p>
            <a:pPr indent="0" marL="0">
              <a:buNone/>
            </a:pPr>
            <a:r>
              <a:rPr lang="en-US" sz="1300" b="1" dirty="0">
                <a:solidFill>
                  <a:srgbClr val="FFFFFF"/>
                </a:solidFill>
              </a:rPr>
              <a:t>2–3 month lag between drought and price spikes</a:t>
            </a:r>
            <a:endParaRPr lang="en-US" sz="1300" dirty="0"/>
          </a:p>
        </p:txBody>
      </p:sp>
      <p:sp>
        <p:nvSpPr>
          <p:cNvPr id="11" name="Text 9"/>
          <p:cNvSpPr/>
          <p:nvPr/>
        </p:nvSpPr>
        <p:spPr>
          <a:xfrm>
            <a:off x="502920" y="2880360"/>
            <a:ext cx="8229600" cy="320040"/>
          </a:xfrm>
          <a:prstGeom prst="rect">
            <a:avLst/>
          </a:prstGeom>
          <a:noFill/>
          <a:ln/>
        </p:spPr>
        <p:txBody>
          <a:bodyPr wrap="square" rtlCol="0" anchor="ctr"/>
          <a:lstStyle/>
          <a:p>
            <a:pPr indent="0" marL="0">
              <a:lnSpc>
                <a:spcPct val="120000"/>
              </a:lnSpc>
              <a:buNone/>
            </a:pPr>
            <a:r>
              <a:rPr lang="en-US" sz="1100" dirty="0">
                <a:solidFill>
                  <a:srgbClr val="B2DFDB"/>
                </a:solidFill>
              </a:rPr>
              <a:t>WFP and NGOs should pre-position food stocks when SPI-3 drops below -0.5 — before prices spike.</a:t>
            </a:r>
            <a:endParaRPr lang="en-US" sz="1100" dirty="0"/>
          </a:p>
        </p:txBody>
      </p:sp>
      <p:sp>
        <p:nvSpPr>
          <p:cNvPr id="12" name="Shape 10"/>
          <p:cNvSpPr/>
          <p:nvPr/>
        </p:nvSpPr>
        <p:spPr>
          <a:xfrm>
            <a:off x="274320" y="3383280"/>
            <a:ext cx="109728" cy="658368"/>
          </a:xfrm>
          <a:prstGeom prst="rect">
            <a:avLst/>
          </a:prstGeom>
          <a:solidFill>
            <a:srgbClr val="1565C0"/>
          </a:solidFill>
          <a:ln w="12700">
            <a:solidFill>
              <a:srgbClr val="1565C0"/>
            </a:solidFill>
            <a:prstDash val="solid"/>
          </a:ln>
        </p:spPr>
      </p:sp>
      <p:sp>
        <p:nvSpPr>
          <p:cNvPr id="13" name="Text 11"/>
          <p:cNvSpPr/>
          <p:nvPr/>
        </p:nvSpPr>
        <p:spPr>
          <a:xfrm>
            <a:off x="502920" y="3401568"/>
            <a:ext cx="8229600" cy="274320"/>
          </a:xfrm>
          <a:prstGeom prst="rect">
            <a:avLst/>
          </a:prstGeom>
          <a:noFill/>
          <a:ln/>
        </p:spPr>
        <p:txBody>
          <a:bodyPr wrap="square" rtlCol="0" anchor="ctr"/>
          <a:lstStyle/>
          <a:p>
            <a:pPr indent="0" marL="0">
              <a:buNone/>
            </a:pPr>
            <a:r>
              <a:rPr lang="en-US" sz="1300" b="1" dirty="0">
                <a:solidFill>
                  <a:srgbClr val="FFFFFF"/>
                </a:solidFill>
              </a:rPr>
              <a:t>Kenya CPI rose 35% from 2020 to 2025</a:t>
            </a:r>
            <a:endParaRPr lang="en-US" sz="1300" dirty="0"/>
          </a:p>
        </p:txBody>
      </p:sp>
      <p:sp>
        <p:nvSpPr>
          <p:cNvPr id="14" name="Text 12"/>
          <p:cNvSpPr/>
          <p:nvPr/>
        </p:nvSpPr>
        <p:spPr>
          <a:xfrm>
            <a:off x="502920" y="3703320"/>
            <a:ext cx="8229600" cy="320040"/>
          </a:xfrm>
          <a:prstGeom prst="rect">
            <a:avLst/>
          </a:prstGeom>
          <a:noFill/>
          <a:ln/>
        </p:spPr>
        <p:txBody>
          <a:bodyPr wrap="square" rtlCol="0" anchor="ctr"/>
          <a:lstStyle/>
          <a:p>
            <a:pPr indent="0" marL="0">
              <a:lnSpc>
                <a:spcPct val="120000"/>
              </a:lnSpc>
              <a:buNone/>
            </a:pPr>
            <a:r>
              <a:rPr lang="en-US" sz="1100" dirty="0">
                <a:solidFill>
                  <a:srgbClr val="B2DFDB"/>
                </a:solidFill>
              </a:rPr>
              <a:t>Prophet forecasts CPI reaching 148 by January 2026 — prepare for continued food price pressure.</a:t>
            </a:r>
            <a:endParaRPr lang="en-US" sz="1100" dirty="0"/>
          </a:p>
        </p:txBody>
      </p:sp>
      <p:sp>
        <p:nvSpPr>
          <p:cNvPr id="15" name="Shape 13"/>
          <p:cNvSpPr/>
          <p:nvPr/>
        </p:nvSpPr>
        <p:spPr>
          <a:xfrm>
            <a:off x="274320" y="4206240"/>
            <a:ext cx="109728" cy="658368"/>
          </a:xfrm>
          <a:prstGeom prst="rect">
            <a:avLst/>
          </a:prstGeom>
          <a:solidFill>
            <a:srgbClr val="4A148C"/>
          </a:solidFill>
          <a:ln w="12700">
            <a:solidFill>
              <a:srgbClr val="4A148C"/>
            </a:solidFill>
            <a:prstDash val="solid"/>
          </a:ln>
        </p:spPr>
      </p:sp>
      <p:sp>
        <p:nvSpPr>
          <p:cNvPr id="16" name="Text 14"/>
          <p:cNvSpPr/>
          <p:nvPr/>
        </p:nvSpPr>
        <p:spPr>
          <a:xfrm>
            <a:off x="502920" y="4224528"/>
            <a:ext cx="8229600" cy="274320"/>
          </a:xfrm>
          <a:prstGeom prst="rect">
            <a:avLst/>
          </a:prstGeom>
          <a:noFill/>
          <a:ln/>
        </p:spPr>
        <p:txBody>
          <a:bodyPr wrap="square" rtlCol="0" anchor="ctr"/>
          <a:lstStyle/>
          <a:p>
            <a:pPr indent="0" marL="0">
              <a:buNone/>
            </a:pPr>
            <a:r>
              <a:rPr lang="en-US" sz="1300" b="1" dirty="0">
                <a:solidFill>
                  <a:srgbClr val="FFFFFF"/>
                </a:solidFill>
              </a:rPr>
              <a:t>Negative news sentiment precedes formal IPC assessments</a:t>
            </a:r>
            <a:endParaRPr lang="en-US" sz="1300" dirty="0"/>
          </a:p>
        </p:txBody>
      </p:sp>
      <p:sp>
        <p:nvSpPr>
          <p:cNvPr id="17" name="Text 15"/>
          <p:cNvSpPr/>
          <p:nvPr/>
        </p:nvSpPr>
        <p:spPr>
          <a:xfrm>
            <a:off x="502920" y="4526280"/>
            <a:ext cx="8229600" cy="320040"/>
          </a:xfrm>
          <a:prstGeom prst="rect">
            <a:avLst/>
          </a:prstGeom>
          <a:noFill/>
          <a:ln/>
        </p:spPr>
        <p:txBody>
          <a:bodyPr wrap="square" rtlCol="0" anchor="ctr"/>
          <a:lstStyle/>
          <a:p>
            <a:pPr indent="0" marL="0">
              <a:lnSpc>
                <a:spcPct val="120000"/>
              </a:lnSpc>
              <a:buNone/>
            </a:pPr>
            <a:r>
              <a:rPr lang="en-US" sz="1100" dirty="0">
                <a:solidFill>
                  <a:srgbClr val="B2DFDB"/>
                </a:solidFill>
              </a:rPr>
              <a:t>Integrate news sentiment monitoring as an early warning signal to trigger faster field verification.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5E20"/>
          </a:solidFill>
          <a:ln w="12700">
            <a:solidFill>
              <a:srgbClr val="1B5E20"/>
            </a:solidFill>
            <a:prstDash val="solid"/>
          </a:ln>
        </p:spPr>
      </p:sp>
      <p:sp>
        <p:nvSpPr>
          <p:cNvPr id="3" name="Text 1"/>
          <p:cNvSpPr/>
          <p:nvPr/>
        </p:nvSpPr>
        <p:spPr>
          <a:xfrm>
            <a:off x="274320" y="109728"/>
            <a:ext cx="8595360" cy="694944"/>
          </a:xfrm>
          <a:prstGeom prst="rect">
            <a:avLst/>
          </a:prstGeom>
          <a:noFill/>
          <a:ln/>
        </p:spPr>
        <p:txBody>
          <a:bodyPr wrap="square" rtlCol="0" anchor="ctr"/>
          <a:lstStyle/>
          <a:p>
            <a:pPr indent="0" marL="0">
              <a:buNone/>
            </a:pPr>
            <a:r>
              <a:rPr lang="en-US" sz="3000" b="1" dirty="0">
                <a:solidFill>
                  <a:srgbClr val="FFFFFF"/>
                </a:solidFill>
              </a:rPr>
              <a:t>🌐  Live Platform — Try It Now</a:t>
            </a:r>
            <a:endParaRPr lang="en-US" sz="3000" dirty="0"/>
          </a:p>
        </p:txBody>
      </p:sp>
      <p:sp>
        <p:nvSpPr>
          <p:cNvPr id="4" name="Shape 2"/>
          <p:cNvSpPr/>
          <p:nvPr/>
        </p:nvSpPr>
        <p:spPr>
          <a:xfrm>
            <a:off x="365760" y="1005840"/>
            <a:ext cx="3931920" cy="3840480"/>
          </a:xfrm>
          <a:prstGeom prst="rect">
            <a:avLst/>
          </a:prstGeom>
          <a:solidFill>
            <a:srgbClr val="FFF3E0"/>
          </a:solidFill>
          <a:ln w="25400">
            <a:solidFill>
              <a:srgbClr val="FF4B4B"/>
            </a:solidFill>
            <a:prstDash val="solid"/>
          </a:ln>
          <a:effectLst>
            <a:outerShdw sx="100000" sy="100000" kx="0" ky="0" algn="bl" rotWithShape="0" blurRad="101600" dist="38100" dir="8100000">
              <a:srgbClr val="000000">
                <a:alpha val="12000"/>
              </a:srgbClr>
            </a:outerShdw>
          </a:effectLst>
        </p:spPr>
      </p:sp>
      <p:sp>
        <p:nvSpPr>
          <p:cNvPr id="5" name="Text 3"/>
          <p:cNvSpPr/>
          <p:nvPr/>
        </p:nvSpPr>
        <p:spPr>
          <a:xfrm>
            <a:off x="365760" y="1097280"/>
            <a:ext cx="3931920" cy="640080"/>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6" name="Text 4"/>
          <p:cNvSpPr/>
          <p:nvPr/>
        </p:nvSpPr>
        <p:spPr>
          <a:xfrm>
            <a:off x="365760" y="1691640"/>
            <a:ext cx="3931920" cy="411480"/>
          </a:xfrm>
          <a:prstGeom prst="rect">
            <a:avLst/>
          </a:prstGeom>
          <a:noFill/>
          <a:ln/>
        </p:spPr>
        <p:txBody>
          <a:bodyPr wrap="square" rtlCol="0" anchor="ctr"/>
          <a:lstStyle/>
          <a:p>
            <a:pPr algn="ctr" indent="0" marL="0">
              <a:buNone/>
            </a:pPr>
            <a:r>
              <a:rPr lang="en-US" sz="1800" b="1" dirty="0">
                <a:solidFill>
                  <a:srgbClr val="263238"/>
                </a:solidFill>
              </a:rPr>
              <a:t>Streamlit App</a:t>
            </a:r>
            <a:endParaRPr lang="en-US" sz="1800" dirty="0"/>
          </a:p>
        </p:txBody>
      </p:sp>
      <p:sp>
        <p:nvSpPr>
          <p:cNvPr id="7" name="Text 5"/>
          <p:cNvSpPr/>
          <p:nvPr/>
        </p:nvSpPr>
        <p:spPr>
          <a:xfrm>
            <a:off x="365760" y="2084832"/>
            <a:ext cx="3931920" cy="274320"/>
          </a:xfrm>
          <a:prstGeom prst="rect">
            <a:avLst/>
          </a:prstGeom>
          <a:noFill/>
          <a:ln/>
        </p:spPr>
        <p:txBody>
          <a:bodyPr wrap="square" rtlCol="0" anchor="ctr"/>
          <a:lstStyle/>
          <a:p>
            <a:pPr algn="ctr" indent="0" marL="0">
              <a:buNone/>
            </a:pPr>
            <a:r>
              <a:rPr lang="en-US" sz="1050" b="1" dirty="0">
                <a:solidFill>
                  <a:srgbClr val="FF4B4B"/>
                </a:solidFill>
              </a:rPr>
              <a:t>kenya-smart-agriculture.streamlit.app</a:t>
            </a:r>
            <a:endParaRPr lang="en-US" sz="1050" dirty="0"/>
          </a:p>
        </p:txBody>
      </p:sp>
      <p:sp>
        <p:nvSpPr>
          <p:cNvPr id="8" name="Text 6"/>
          <p:cNvSpPr/>
          <p:nvPr/>
        </p:nvSpPr>
        <p:spPr>
          <a:xfrm>
            <a:off x="548640" y="2487168"/>
            <a:ext cx="3566160" cy="347472"/>
          </a:xfrm>
          <a:prstGeom prst="rect">
            <a:avLst/>
          </a:prstGeom>
          <a:noFill/>
          <a:ln/>
        </p:spPr>
        <p:txBody>
          <a:bodyPr wrap="square" rtlCol="0" anchor="ctr"/>
          <a:lstStyle/>
          <a:p>
            <a:pPr indent="0" marL="0">
              <a:buNone/>
            </a:pPr>
            <a:r>
              <a:rPr lang="en-US" sz="1100" dirty="0">
                <a:solidFill>
                  <a:srgbClr val="263238"/>
                </a:solidFill>
              </a:rPr>
              <a:t>🏠 Home — model results + key findings</a:t>
            </a:r>
            <a:endParaRPr lang="en-US" sz="1100" dirty="0"/>
          </a:p>
        </p:txBody>
      </p:sp>
      <p:sp>
        <p:nvSpPr>
          <p:cNvPr id="9" name="Text 7"/>
          <p:cNvSpPr/>
          <p:nvPr/>
        </p:nvSpPr>
        <p:spPr>
          <a:xfrm>
            <a:off x="548640" y="2926080"/>
            <a:ext cx="3566160" cy="347472"/>
          </a:xfrm>
          <a:prstGeom prst="rect">
            <a:avLst/>
          </a:prstGeom>
          <a:noFill/>
          <a:ln/>
        </p:spPr>
        <p:txBody>
          <a:bodyPr wrap="square" rtlCol="0" anchor="ctr"/>
          <a:lstStyle/>
          <a:p>
            <a:pPr indent="0" marL="0">
              <a:buNone/>
            </a:pPr>
            <a:r>
              <a:rPr lang="en-US" sz="1100" dirty="0">
                <a:solidFill>
                  <a:srgbClr val="263238"/>
                </a:solidFill>
              </a:rPr>
              <a:t>🗺️ Food Security Map — all 47 counties</a:t>
            </a:r>
            <a:endParaRPr lang="en-US" sz="1100" dirty="0"/>
          </a:p>
        </p:txBody>
      </p:sp>
      <p:sp>
        <p:nvSpPr>
          <p:cNvPr id="10" name="Text 8"/>
          <p:cNvSpPr/>
          <p:nvPr/>
        </p:nvSpPr>
        <p:spPr>
          <a:xfrm>
            <a:off x="548640" y="3364992"/>
            <a:ext cx="3566160" cy="347472"/>
          </a:xfrm>
          <a:prstGeom prst="rect">
            <a:avLst/>
          </a:prstGeom>
          <a:noFill/>
          <a:ln/>
        </p:spPr>
        <p:txBody>
          <a:bodyPr wrap="square" rtlCol="0" anchor="ctr"/>
          <a:lstStyle/>
          <a:p>
            <a:pPr indent="0" marL="0">
              <a:buNone/>
            </a:pPr>
            <a:r>
              <a:rPr lang="en-US" sz="1100" dirty="0">
                <a:solidFill>
                  <a:srgbClr val="263238"/>
                </a:solidFill>
              </a:rPr>
              <a:t>📈 Price Forecast — CPI + 8-month outlook</a:t>
            </a:r>
            <a:endParaRPr lang="en-US" sz="1100" dirty="0"/>
          </a:p>
        </p:txBody>
      </p:sp>
      <p:sp>
        <p:nvSpPr>
          <p:cNvPr id="11" name="Text 9"/>
          <p:cNvSpPr/>
          <p:nvPr/>
        </p:nvSpPr>
        <p:spPr>
          <a:xfrm>
            <a:off x="548640" y="3803904"/>
            <a:ext cx="3566160" cy="347472"/>
          </a:xfrm>
          <a:prstGeom prst="rect">
            <a:avLst/>
          </a:prstGeom>
          <a:noFill/>
          <a:ln/>
        </p:spPr>
        <p:txBody>
          <a:bodyPr wrap="square" rtlCol="0" anchor="ctr"/>
          <a:lstStyle/>
          <a:p>
            <a:pPr indent="0" marL="0">
              <a:buNone/>
            </a:pPr>
            <a:r>
              <a:rPr lang="en-US" sz="1100" dirty="0">
                <a:solidFill>
                  <a:srgbClr val="263238"/>
                </a:solidFill>
              </a:rPr>
              <a:t>🌱 Crop Recommendation — by county + season</a:t>
            </a:r>
            <a:endParaRPr lang="en-US" sz="1100" dirty="0"/>
          </a:p>
        </p:txBody>
      </p:sp>
      <p:sp>
        <p:nvSpPr>
          <p:cNvPr id="12" name="Text 10"/>
          <p:cNvSpPr/>
          <p:nvPr/>
        </p:nvSpPr>
        <p:spPr>
          <a:xfrm>
            <a:off x="548640" y="4242816"/>
            <a:ext cx="3566160" cy="347472"/>
          </a:xfrm>
          <a:prstGeom prst="rect">
            <a:avLst/>
          </a:prstGeom>
          <a:noFill/>
          <a:ln/>
        </p:spPr>
        <p:txBody>
          <a:bodyPr wrap="square" rtlCol="0" anchor="ctr"/>
          <a:lstStyle/>
          <a:p>
            <a:pPr indent="0" marL="0">
              <a:buNone/>
            </a:pPr>
            <a:r>
              <a:rPr lang="en-US" sz="1100" dirty="0">
                <a:solidFill>
                  <a:srgbClr val="263238"/>
                </a:solidFill>
              </a:rPr>
              <a:t>📰 News Sentiment — 300 headlines analysed</a:t>
            </a:r>
            <a:endParaRPr lang="en-US" sz="1100" dirty="0"/>
          </a:p>
        </p:txBody>
      </p:sp>
      <p:sp>
        <p:nvSpPr>
          <p:cNvPr id="13" name="Shape 11"/>
          <p:cNvSpPr/>
          <p:nvPr/>
        </p:nvSpPr>
        <p:spPr>
          <a:xfrm>
            <a:off x="4846320" y="1005840"/>
            <a:ext cx="3931920" cy="3840480"/>
          </a:xfrm>
          <a:prstGeom prst="rect">
            <a:avLst/>
          </a:prstGeom>
          <a:solidFill>
            <a:srgbClr val="E3F2FD"/>
          </a:solidFill>
          <a:ln w="25400">
            <a:solidFill>
              <a:srgbClr val="1F77B4"/>
            </a:solidFill>
            <a:prstDash val="solid"/>
          </a:ln>
          <a:effectLst>
            <a:outerShdw sx="100000" sy="100000" kx="0" ky="0" algn="bl" rotWithShape="0" blurRad="101600" dist="38100" dir="8100000">
              <a:srgbClr val="000000">
                <a:alpha val="12000"/>
              </a:srgbClr>
            </a:outerShdw>
          </a:effectLst>
        </p:spPr>
      </p:sp>
      <p:sp>
        <p:nvSpPr>
          <p:cNvPr id="14" name="Text 12"/>
          <p:cNvSpPr/>
          <p:nvPr/>
        </p:nvSpPr>
        <p:spPr>
          <a:xfrm>
            <a:off x="4846320" y="1097280"/>
            <a:ext cx="3931920" cy="640080"/>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15" name="Text 13"/>
          <p:cNvSpPr/>
          <p:nvPr/>
        </p:nvSpPr>
        <p:spPr>
          <a:xfrm>
            <a:off x="4846320" y="1691640"/>
            <a:ext cx="3931920" cy="411480"/>
          </a:xfrm>
          <a:prstGeom prst="rect">
            <a:avLst/>
          </a:prstGeom>
          <a:noFill/>
          <a:ln/>
        </p:spPr>
        <p:txBody>
          <a:bodyPr wrap="square" rtlCol="0" anchor="ctr"/>
          <a:lstStyle/>
          <a:p>
            <a:pPr algn="ctr" indent="0" marL="0">
              <a:buNone/>
            </a:pPr>
            <a:r>
              <a:rPr lang="en-US" sz="1800" b="1" dirty="0">
                <a:solidFill>
                  <a:srgbClr val="263238"/>
                </a:solidFill>
              </a:rPr>
              <a:t>Tableau Dashboard</a:t>
            </a:r>
            <a:endParaRPr lang="en-US" sz="1800" dirty="0"/>
          </a:p>
        </p:txBody>
      </p:sp>
      <p:sp>
        <p:nvSpPr>
          <p:cNvPr id="16" name="Text 14"/>
          <p:cNvSpPr/>
          <p:nvPr/>
        </p:nvSpPr>
        <p:spPr>
          <a:xfrm>
            <a:off x="4846320" y="2084832"/>
            <a:ext cx="3931920" cy="274320"/>
          </a:xfrm>
          <a:prstGeom prst="rect">
            <a:avLst/>
          </a:prstGeom>
          <a:noFill/>
          <a:ln/>
        </p:spPr>
        <p:txBody>
          <a:bodyPr wrap="square" rtlCol="0" anchor="ctr"/>
          <a:lstStyle/>
          <a:p>
            <a:pPr algn="ctr" indent="0" marL="0">
              <a:buNone/>
            </a:pPr>
            <a:r>
              <a:rPr lang="en-US" sz="1050" b="1" dirty="0">
                <a:solidFill>
                  <a:srgbClr val="1F77B4"/>
                </a:solidFill>
              </a:rPr>
              <a:t>public.tableau.com — Eve Michelle</a:t>
            </a:r>
            <a:endParaRPr lang="en-US" sz="1050" dirty="0"/>
          </a:p>
        </p:txBody>
      </p:sp>
      <p:sp>
        <p:nvSpPr>
          <p:cNvPr id="17" name="Text 15"/>
          <p:cNvSpPr/>
          <p:nvPr/>
        </p:nvSpPr>
        <p:spPr>
          <a:xfrm>
            <a:off x="5029200" y="2487168"/>
            <a:ext cx="3566160" cy="347472"/>
          </a:xfrm>
          <a:prstGeom prst="rect">
            <a:avLst/>
          </a:prstGeom>
          <a:noFill/>
          <a:ln/>
        </p:spPr>
        <p:txBody>
          <a:bodyPr wrap="square" rtlCol="0" anchor="ctr"/>
          <a:lstStyle/>
          <a:p>
            <a:pPr indent="0" marL="0">
              <a:buNone/>
            </a:pPr>
            <a:r>
              <a:rPr lang="en-US" sz="1100" dirty="0">
                <a:solidFill>
                  <a:srgbClr val="263238"/>
                </a:solidFill>
              </a:rPr>
              <a:t>🗺️ Food Security Map — Kenya counties</a:t>
            </a:r>
            <a:endParaRPr lang="en-US" sz="1100" dirty="0"/>
          </a:p>
        </p:txBody>
      </p:sp>
      <p:sp>
        <p:nvSpPr>
          <p:cNvPr id="18" name="Text 16"/>
          <p:cNvSpPr/>
          <p:nvPr/>
        </p:nvSpPr>
        <p:spPr>
          <a:xfrm>
            <a:off x="5029200" y="2926080"/>
            <a:ext cx="3566160" cy="347472"/>
          </a:xfrm>
          <a:prstGeom prst="rect">
            <a:avLst/>
          </a:prstGeom>
          <a:noFill/>
          <a:ln/>
        </p:spPr>
        <p:txBody>
          <a:bodyPr wrap="square" rtlCol="0" anchor="ctr"/>
          <a:lstStyle/>
          <a:p>
            <a:pPr indent="0" marL="0">
              <a:buNone/>
            </a:pPr>
            <a:r>
              <a:rPr lang="en-US" sz="1100" dirty="0">
                <a:solidFill>
                  <a:srgbClr val="263238"/>
                </a:solidFill>
              </a:rPr>
              <a:t>📈 CPI Price Trend — 2020 to 2026</a:t>
            </a:r>
            <a:endParaRPr lang="en-US" sz="1100" dirty="0"/>
          </a:p>
        </p:txBody>
      </p:sp>
      <p:sp>
        <p:nvSpPr>
          <p:cNvPr id="19" name="Text 17"/>
          <p:cNvSpPr/>
          <p:nvPr/>
        </p:nvSpPr>
        <p:spPr>
          <a:xfrm>
            <a:off x="5029200" y="3364992"/>
            <a:ext cx="3566160" cy="347472"/>
          </a:xfrm>
          <a:prstGeom prst="rect">
            <a:avLst/>
          </a:prstGeom>
          <a:noFill/>
          <a:ln/>
        </p:spPr>
        <p:txBody>
          <a:bodyPr wrap="square" rtlCol="0" anchor="ctr"/>
          <a:lstStyle/>
          <a:p>
            <a:pPr indent="0" marL="0">
              <a:buNone/>
            </a:pPr>
            <a:r>
              <a:rPr lang="en-US" sz="1100" dirty="0">
                <a:solidFill>
                  <a:srgbClr val="263238"/>
                </a:solidFill>
              </a:rPr>
              <a:t>🤖 ML Model Performance Results</a:t>
            </a:r>
            <a:endParaRPr lang="en-US" sz="1100" dirty="0"/>
          </a:p>
        </p:txBody>
      </p:sp>
      <p:sp>
        <p:nvSpPr>
          <p:cNvPr id="20" name="Text 18"/>
          <p:cNvSpPr/>
          <p:nvPr/>
        </p:nvSpPr>
        <p:spPr>
          <a:xfrm>
            <a:off x="5029200" y="3803904"/>
            <a:ext cx="3566160" cy="347472"/>
          </a:xfrm>
          <a:prstGeom prst="rect">
            <a:avLst/>
          </a:prstGeom>
          <a:noFill/>
          <a:ln/>
        </p:spPr>
        <p:txBody>
          <a:bodyPr wrap="square" rtlCol="0" anchor="ctr"/>
          <a:lstStyle/>
          <a:p>
            <a:pPr indent="0" marL="0">
              <a:buNone/>
            </a:pPr>
            <a:r>
              <a:rPr lang="en-US" sz="1100" dirty="0">
                <a:solidFill>
                  <a:srgbClr val="263238"/>
                </a:solidFill>
              </a:rPr>
              <a:t>📰 News Topics &amp; Sentiment</a:t>
            </a:r>
            <a:endParaRPr lang="en-US" sz="1100" dirty="0"/>
          </a:p>
        </p:txBody>
      </p:sp>
      <p:sp>
        <p:nvSpPr>
          <p:cNvPr id="21" name="Text 19"/>
          <p:cNvSpPr/>
          <p:nvPr/>
        </p:nvSpPr>
        <p:spPr>
          <a:xfrm>
            <a:off x="5029200" y="4242816"/>
            <a:ext cx="3566160" cy="347472"/>
          </a:xfrm>
          <a:prstGeom prst="rect">
            <a:avLst/>
          </a:prstGeom>
          <a:noFill/>
          <a:ln/>
        </p:spPr>
        <p:txBody>
          <a:bodyPr wrap="square" rtlCol="0" anchor="ctr"/>
          <a:lstStyle/>
          <a:p>
            <a:pPr indent="0" marL="0">
              <a:buNone/>
            </a:pPr>
            <a:r>
              <a:rPr lang="en-US" sz="1100" dirty="0">
                <a:solidFill>
                  <a:srgbClr val="263238"/>
                </a:solidFill>
              </a:rPr>
              <a:t>📍 County Mentions in Headlines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5E20"/>
        </a:solidFill>
      </p:bgPr>
    </p:bg>
    <p:spTree>
      <p:nvGrpSpPr>
        <p:cNvPr id="1" name=""/>
        <p:cNvGrpSpPr/>
        <p:nvPr/>
      </p:nvGrpSpPr>
      <p:grpSpPr>
        <a:xfrm>
          <a:off x="0" y="0"/>
          <a:ext cx="0" cy="0"/>
          <a:chOff x="0" y="0"/>
          <a:chExt cx="0" cy="0"/>
        </a:xfrm>
      </p:grpSpPr>
      <p:sp>
        <p:nvSpPr>
          <p:cNvPr id="2" name="Text 0"/>
          <p:cNvSpPr/>
          <p:nvPr/>
        </p:nvSpPr>
        <p:spPr>
          <a:xfrm>
            <a:off x="0" y="365760"/>
            <a:ext cx="9144000" cy="1097280"/>
          </a:xfrm>
          <a:prstGeom prst="rect">
            <a:avLst/>
          </a:prstGeom>
          <a:noFill/>
          <a:ln/>
        </p:spPr>
        <p:txBody>
          <a:bodyPr wrap="square" rtlCol="0" anchor="ctr"/>
          <a:lstStyle/>
          <a:p>
            <a:pPr algn="ctr" indent="0" marL="0">
              <a:buNone/>
            </a:pPr>
            <a:r>
              <a:rPr lang="en-US" sz="7200" dirty="0">
                <a:solidFill>
                  <a:srgbClr val="000000"/>
                </a:solidFill>
              </a:rPr>
              <a:t>🌾</a:t>
            </a:r>
            <a:endParaRPr lang="en-US" sz="7200" dirty="0"/>
          </a:p>
        </p:txBody>
      </p:sp>
      <p:sp>
        <p:nvSpPr>
          <p:cNvPr id="3" name="Text 1"/>
          <p:cNvSpPr/>
          <p:nvPr/>
        </p:nvSpPr>
        <p:spPr>
          <a:xfrm>
            <a:off x="457200" y="1417320"/>
            <a:ext cx="8229600" cy="685800"/>
          </a:xfrm>
          <a:prstGeom prst="rect">
            <a:avLst/>
          </a:prstGeom>
          <a:noFill/>
          <a:ln/>
        </p:spPr>
        <p:txBody>
          <a:bodyPr wrap="square" rtlCol="0" anchor="ctr"/>
          <a:lstStyle/>
          <a:p>
            <a:pPr algn="ctr" indent="0" marL="0">
              <a:buNone/>
            </a:pPr>
            <a:r>
              <a:rPr lang="en-US" sz="3600" b="1" dirty="0">
                <a:solidFill>
                  <a:srgbClr val="FFFFFF"/>
                </a:solidFill>
              </a:rPr>
              <a:t>Kenya Smart Agriculture</a:t>
            </a:r>
            <a:endParaRPr lang="en-US" sz="3600" dirty="0"/>
          </a:p>
        </p:txBody>
      </p:sp>
      <p:sp>
        <p:nvSpPr>
          <p:cNvPr id="4" name="Text 2"/>
          <p:cNvSpPr/>
          <p:nvPr/>
        </p:nvSpPr>
        <p:spPr>
          <a:xfrm>
            <a:off x="457200" y="2057400"/>
            <a:ext cx="8229600" cy="502920"/>
          </a:xfrm>
          <a:prstGeom prst="rect">
            <a:avLst/>
          </a:prstGeom>
          <a:noFill/>
          <a:ln/>
        </p:spPr>
        <p:txBody>
          <a:bodyPr wrap="square" rtlCol="0" anchor="ctr"/>
          <a:lstStyle/>
          <a:p>
            <a:pPr algn="ctr" indent="0" marL="0">
              <a:buNone/>
            </a:pPr>
            <a:r>
              <a:rPr lang="en-US" sz="2400" dirty="0">
                <a:solidFill>
                  <a:srgbClr val="A5D6A7"/>
                </a:solidFill>
              </a:rPr>
              <a:t>&amp; Market Intelligence Platform</a:t>
            </a:r>
            <a:endParaRPr lang="en-US" sz="2400" dirty="0"/>
          </a:p>
        </p:txBody>
      </p:sp>
      <p:sp>
        <p:nvSpPr>
          <p:cNvPr id="5" name="Shape 3"/>
          <p:cNvSpPr/>
          <p:nvPr/>
        </p:nvSpPr>
        <p:spPr>
          <a:xfrm>
            <a:off x="2286000" y="2697480"/>
            <a:ext cx="4572000" cy="36576"/>
          </a:xfrm>
          <a:prstGeom prst="rect">
            <a:avLst/>
          </a:prstGeom>
          <a:solidFill>
            <a:srgbClr val="66BB6A"/>
          </a:solidFill>
          <a:ln w="12700">
            <a:solidFill>
              <a:srgbClr val="66BB6A"/>
            </a:solidFill>
            <a:prstDash val="solid"/>
          </a:ln>
        </p:spPr>
      </p:sp>
      <p:sp>
        <p:nvSpPr>
          <p:cNvPr id="6" name="Text 4"/>
          <p:cNvSpPr/>
          <p:nvPr/>
        </p:nvSpPr>
        <p:spPr>
          <a:xfrm>
            <a:off x="457200" y="2834640"/>
            <a:ext cx="8229600" cy="365760"/>
          </a:xfrm>
          <a:prstGeom prst="rect">
            <a:avLst/>
          </a:prstGeom>
          <a:noFill/>
          <a:ln/>
        </p:spPr>
        <p:txBody>
          <a:bodyPr wrap="square" rtlCol="0" anchor="ctr"/>
          <a:lstStyle/>
          <a:p>
            <a:pPr algn="ctr" indent="0" marL="0">
              <a:buNone/>
            </a:pPr>
            <a:r>
              <a:rPr lang="en-US" sz="1400" dirty="0">
                <a:solidFill>
                  <a:srgbClr val="C8E6C9"/>
                </a:solidFill>
              </a:rPr>
              <a:t>Built by Eve Otieno — Data Scientist, Nairobi, Kenya</a:t>
            </a:r>
            <a:endParaRPr lang="en-US" sz="1400" dirty="0"/>
          </a:p>
        </p:txBody>
      </p:sp>
      <p:sp>
        <p:nvSpPr>
          <p:cNvPr id="7" name="Text 5"/>
          <p:cNvSpPr/>
          <p:nvPr/>
        </p:nvSpPr>
        <p:spPr>
          <a:xfrm>
            <a:off x="457200" y="3337560"/>
            <a:ext cx="8229600" cy="347472"/>
          </a:xfrm>
          <a:prstGeom prst="rect">
            <a:avLst/>
          </a:prstGeom>
          <a:noFill/>
          <a:ln/>
        </p:spPr>
        <p:txBody>
          <a:bodyPr wrap="square" rtlCol="0" anchor="ctr"/>
          <a:lstStyle/>
          <a:p>
            <a:pPr algn="ctr" indent="0" marL="0">
              <a:buNone/>
            </a:pPr>
            <a:r>
              <a:rPr lang="en-US" sz="1300" dirty="0">
                <a:solidFill>
                  <a:srgbClr val="81C784"/>
                </a:solidFill>
              </a:rPr>
              <a:t>🚀  kenya-smart-agriculture.streamlit.app</a:t>
            </a:r>
            <a:endParaRPr lang="en-US" sz="1300" dirty="0"/>
          </a:p>
        </p:txBody>
      </p:sp>
      <p:sp>
        <p:nvSpPr>
          <p:cNvPr id="8" name="Text 6"/>
          <p:cNvSpPr/>
          <p:nvPr/>
        </p:nvSpPr>
        <p:spPr>
          <a:xfrm>
            <a:off x="457200" y="3749040"/>
            <a:ext cx="8229600" cy="347472"/>
          </a:xfrm>
          <a:prstGeom prst="rect">
            <a:avLst/>
          </a:prstGeom>
          <a:noFill/>
          <a:ln/>
        </p:spPr>
        <p:txBody>
          <a:bodyPr wrap="square" rtlCol="0" anchor="ctr"/>
          <a:lstStyle/>
          <a:p>
            <a:pPr algn="ctr" indent="0" marL="0">
              <a:buNone/>
            </a:pPr>
            <a:r>
              <a:rPr lang="en-US" sz="1300" dirty="0">
                <a:solidFill>
                  <a:srgbClr val="81C784"/>
                </a:solidFill>
              </a:rPr>
              <a:t>📊  public.tableau.com — Eve Michelle</a:t>
            </a:r>
            <a:endParaRPr lang="en-US" sz="1300" dirty="0"/>
          </a:p>
        </p:txBody>
      </p:sp>
      <p:sp>
        <p:nvSpPr>
          <p:cNvPr id="9" name="Text 7"/>
          <p:cNvSpPr/>
          <p:nvPr/>
        </p:nvSpPr>
        <p:spPr>
          <a:xfrm>
            <a:off x="457200" y="4160520"/>
            <a:ext cx="8229600" cy="347472"/>
          </a:xfrm>
          <a:prstGeom prst="rect">
            <a:avLst/>
          </a:prstGeom>
          <a:noFill/>
          <a:ln/>
        </p:spPr>
        <p:txBody>
          <a:bodyPr wrap="square" rtlCol="0" anchor="ctr"/>
          <a:lstStyle/>
          <a:p>
            <a:pPr algn="ctr" indent="0" marL="0">
              <a:buNone/>
            </a:pPr>
            <a:r>
              <a:rPr lang="en-US" sz="1300" dirty="0">
                <a:solidFill>
                  <a:srgbClr val="81C784"/>
                </a:solidFill>
              </a:rPr>
              <a:t>💻  github.com/EveMichelle/kenya-smart-agriculture</a:t>
            </a:r>
            <a:endParaRPr lang="en-US" sz="1300" dirty="0"/>
          </a:p>
        </p:txBody>
      </p:sp>
      <p:sp>
        <p:nvSpPr>
          <p:cNvPr id="10" name="Text 8"/>
          <p:cNvSpPr/>
          <p:nvPr/>
        </p:nvSpPr>
        <p:spPr>
          <a:xfrm>
            <a:off x="0" y="4800600"/>
            <a:ext cx="9144000" cy="274320"/>
          </a:xfrm>
          <a:prstGeom prst="rect">
            <a:avLst/>
          </a:prstGeom>
          <a:noFill/>
          <a:ln/>
        </p:spPr>
        <p:txBody>
          <a:bodyPr wrap="square" rtlCol="0" anchor="ctr"/>
          <a:lstStyle/>
          <a:p>
            <a:pPr algn="ctr" indent="0" marL="0">
              <a:buNone/>
            </a:pPr>
            <a:r>
              <a:rPr lang="en-US" sz="950" dirty="0">
                <a:solidFill>
                  <a:srgbClr val="4CAF50"/>
                </a:solidFill>
              </a:rPr>
              <a:t>Data: NASA POWER  ·  FEWS NET  ·  KNBS  ·  WFP  ·  Kenya News Agency</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Kenya Smart Agriculture &amp; Market Intelligence Platform</dc:title>
  <dc:subject>PptxGenJS Presentation</dc:subject>
  <dc:creator>Eve Otieno</dc:creator>
  <cp:lastModifiedBy>Eve Otieno</cp:lastModifiedBy>
  <cp:revision>1</cp:revision>
  <dcterms:created xsi:type="dcterms:W3CDTF">2026-06-03T12:29:38Z</dcterms:created>
  <dcterms:modified xsi:type="dcterms:W3CDTF">2026-06-03T12:29:38Z</dcterms:modified>
</cp:coreProperties>
</file>